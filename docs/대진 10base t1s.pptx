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handoutMasterIdLst>
    <p:handoutMasterId r:id="rId5"/>
  </p:handoutMasterIdLst>
  <p:sldIdLst>
    <p:sldId id="502" r:id="rId2"/>
    <p:sldId id="587" r:id="rId11"/>
    <p:sldId id="588" r:id="rId12"/>
    <p:sldId id="589" r:id="rId13"/>
    <p:sldId id="590" r:id="rId14"/>
    <p:sldId id="591" r:id="rId15"/>
    <p:sldId id="592" r:id="rId16"/>
    <p:sldId id="593" r:id="rId17"/>
    <p:sldId id="605" r:id="rId29"/>
    <p:sldId id="606" r:id="rId30"/>
    <p:sldId id="607" r:id="rId31"/>
    <p:sldId id="608" r:id="rId32"/>
    <p:sldId id="609" r:id="rId33"/>
    <p:sldId id="610" r:id="rId34"/>
    <p:sldId id="611" r:id="rId35"/>
    <p:sldId id="612" r:id="rId36"/>
    <p:sldId id="594" r:id="rId18"/>
    <p:sldId id="595" r:id="rId19"/>
    <p:sldId id="596" r:id="rId20"/>
    <p:sldId id="597" r:id="rId21"/>
    <p:sldId id="598" r:id="rId22"/>
    <p:sldId id="599" r:id="rId23"/>
    <p:sldId id="600" r:id="rId24"/>
    <p:sldId id="601" r:id="rId25"/>
    <p:sldId id="602" r:id="rId26"/>
    <p:sldId id="603" r:id="rId27"/>
    <p:sldId id="604" r:id="rId28"/>
  </p:sldIdLst>
  <p:sldSz cx="9906000" cy="6858000" type="A4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20427FD1-C91E-4480-B265-C5EC1C20DB12}">
          <p14:sldIdLst>
            <p14:sldId id="502"/>
            <p14:sldId id="586"/>
          </p14:sldIdLst>
        </p14:section>
        <p14:section name="참조자료" id="{B14FC2FE-DAB6-48B6-ABBB-74B5E653135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958" userDrawn="1">
          <p15:clr>
            <a:srgbClr val="A4A3A4"/>
          </p15:clr>
        </p15:guide>
        <p15:guide id="2" pos="353" userDrawn="1">
          <p15:clr>
            <a:srgbClr val="A4A3A4"/>
          </p15:clr>
        </p15:guide>
        <p15:guide id="3" pos="262" userDrawn="1">
          <p15:clr>
            <a:srgbClr val="A4A3A4"/>
          </p15:clr>
        </p15:guide>
        <p15:guide id="4" orient="horz" pos="799" userDrawn="1">
          <p15:clr>
            <a:srgbClr val="A4A3A4"/>
          </p15:clr>
        </p15:guide>
        <p15:guide id="5" pos="5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1" userDrawn="1">
          <p15:clr>
            <a:srgbClr val="A4A3A4"/>
          </p15:clr>
        </p15:guide>
        <p15:guide id="2" pos="312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재혁" initials="신재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239F7"/>
    <a:srgbClr val="B2B2B2"/>
    <a:srgbClr val="DDDDDD"/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071" autoAdjust="0"/>
    <p:restoredTop sz="95388" autoAdjust="0"/>
  </p:normalViewPr>
  <p:slideViewPr>
    <p:cSldViewPr snapToGrid="0">
      <p:cViewPr varScale="1">
        <p:scale>
          <a:sx n="110" d="100"/>
          <a:sy n="110" d="100"/>
        </p:scale>
        <p:origin x="1372" y="72"/>
      </p:cViewPr>
      <p:guideLst>
        <p:guide orient="horz" pos="958"/>
        <p:guide pos="353"/>
        <p:guide pos="262"/>
        <p:guide orient="horz" pos="799"/>
        <p:guide pos="5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764"/>
    </p:cViewPr>
  </p:sorterViewPr>
  <p:notesViewPr>
    <p:cSldViewPr snapToGrid="0">
      <p:cViewPr varScale="1">
        <p:scale>
          <a:sx n="63" d="100"/>
          <a:sy n="63" d="100"/>
        </p:scale>
        <p:origin x="-1824" y="-108"/>
      </p:cViewPr>
      <p:guideLst>
        <p:guide orient="horz" pos="2141"/>
        <p:guide pos="312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commentAuthors" Target="commentAuthors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 i="0">
                <a:solidFill>
                  <a:srgbClr val="1E2761"/>
                </a:solidFill>
                <a:latin typeface="맑은 고딕"/>
                <a:ea typeface="맑은 고딕"/>
              </a:rPr>
              <a:t>노드 수(N)별 최악 대기 시간 [ms] — 다른 노드가 모두 최대 프레임 송신 시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최대 프레임(1518 B)</c:v>
                </c:pt>
              </c:strCache>
            </c:strRef>
          </c:tx>
          <c:spPr>
            <a:solidFill>
              <a:srgbClr val="D96C00"/>
            </a:solidFill>
          </c:spPr>
          <c:cat>
            <c:strRef>
              <c:f>Sheet1!$A$2:$A$8</c:f>
              <c:strCache>
                <c:ptCount val="7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1.2</c:v>
                </c:pt>
                <c:pt idx="1">
                  <c:v>2.5</c:v>
                </c:pt>
                <c:pt idx="2">
                  <c:v>3.7</c:v>
                </c:pt>
                <c:pt idx="3">
                  <c:v>4.9</c:v>
                </c:pt>
                <c:pt idx="4">
                  <c:v>6.2</c:v>
                </c:pt>
                <c:pt idx="5">
                  <c:v>7.4</c:v>
                </c:pt>
                <c:pt idx="6">
                  <c:v>8.6</c:v>
                </c:pt>
              </c:numCache>
            </c:numRef>
          </c:val>
        </c:ser>
        <c:dLbls>
          <c:numFmt formatCode="0.0&quot; ms&quot;" sourceLinked="0"/>
          <c:txPr>
            <a:bodyPr/>
            <a:lstStyle/>
            <a:p>
              <a:pPr>
                <a:defRPr sz="1000" b="1">
                  <a:solidFill>
                    <a:srgbClr val="D96C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900" b="0" i="0">
                    <a:solidFill>
                      <a:srgbClr val="595959"/>
                    </a:solidFill>
                    <a:latin typeface="맑은 고딕"/>
                    <a:ea typeface="맑은 고딕"/>
                  </a:rPr>
                  <a:t>노드 수 N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26262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3"/>
          </p:nvPr>
        </p:nvSpPr>
        <p:spPr>
          <a:xfrm>
            <a:off x="4821896" y="6348351"/>
            <a:ext cx="384633" cy="340263"/>
          </a:xfrm>
          <a:prstGeom prst="rect">
            <a:avLst/>
          </a:prstGeom>
        </p:spPr>
        <p:txBody>
          <a:bodyPr vert="horz" lIns="88194" tIns="44097" rIns="88194" bIns="44097" rtlCol="0" anchor="b"/>
          <a:lstStyle>
            <a:lvl1pPr algn="r">
              <a:defRPr sz="1200"/>
            </a:lvl1pPr>
          </a:lstStyle>
          <a:p>
            <a:fld id="{8FEC65EA-2382-4470-9CDB-91994F30209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0478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-2136775" y="2533650"/>
            <a:ext cx="3646488" cy="2524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651" tIns="45825" rIns="91651" bIns="45825" rtlCol="0" anchor="ctr"/>
          <a:lstStyle/>
          <a:p>
            <a:pPr lvl="0"/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94509252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136775" y="2533650"/>
            <a:ext cx="3646488" cy="25241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993126" y="3271998"/>
            <a:ext cx="7940386" cy="2676537"/>
          </a:xfrm>
          <a:prstGeom prst="rect">
            <a:avLst/>
          </a:prstGeom>
        </p:spPr>
        <p:txBody>
          <a:bodyPr lIns="88194" tIns="44097" rIns="88194" bIns="44097"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9379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529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13" name="제목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16" name="슬라이드 번호 개체 틀 15"/>
          <p:cNvSpPr>
            <a:spLocks noGrp="1"/>
          </p:cNvSpPr>
          <p:nvPr>
            <p:ph type="sldNum" sz="quarter" idx="12"/>
          </p:nvPr>
        </p:nvSpPr>
        <p:spPr>
          <a:xfrm>
            <a:off x="3554173" y="6311898"/>
            <a:ext cx="222885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9292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/>
          <p:cNvCxnSpPr/>
          <p:nvPr userDrawn="1"/>
        </p:nvCxnSpPr>
        <p:spPr bwMode="auto">
          <a:xfrm>
            <a:off x="10160" y="568112"/>
            <a:ext cx="9864000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직선 연결선 16"/>
          <p:cNvCxnSpPr/>
          <p:nvPr userDrawn="1"/>
        </p:nvCxnSpPr>
        <p:spPr bwMode="auto">
          <a:xfrm>
            <a:off x="20320" y="6357711"/>
            <a:ext cx="9864000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9" name="Picture 6" descr="Confidential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2493" y="155153"/>
            <a:ext cx="1099778" cy="3421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직사각형 2"/>
          <p:cNvSpPr/>
          <p:nvPr userDrawn="1"/>
        </p:nvSpPr>
        <p:spPr>
          <a:xfrm>
            <a:off x="175097" y="6461340"/>
            <a:ext cx="1741251" cy="2765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/>
          <p:cNvCxnSpPr/>
          <p:nvPr userDrawn="1"/>
        </p:nvCxnSpPr>
        <p:spPr bwMode="auto">
          <a:xfrm>
            <a:off x="9991" y="6843318"/>
            <a:ext cx="9864000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10" name="그림 9" descr="image001"/>
          <p:cNvPicPr/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338203" y="6411525"/>
            <a:ext cx="1567797" cy="375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046857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>
          <a:xfrm>
            <a:off x="4597878" y="6364978"/>
            <a:ext cx="443273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911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597520" y="6311898"/>
            <a:ext cx="417393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94790651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8269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73544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0703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319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6882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1309577C-C89B-4D93-9DED-68169394DAB3}" type="slidenum">
              <a:rPr lang="ko-KR" altLang="en-US" smtClean="0"/>
              <a:pPr/>
              <a:t>‹#›</a:t>
            </a:fld>
            <a:fld id="{31C68DF0-146E-4C20-9182-AD41735CF775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40249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5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 descr="Confidential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913" y="549275"/>
            <a:ext cx="1735137" cy="53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22753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988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8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5" r:id="rId13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3"/>
          <p:cNvSpPr>
            <a:spLocks noChangeArrowheads="1"/>
          </p:cNvSpPr>
          <p:nvPr/>
        </p:nvSpPr>
        <p:spPr bwMode="auto">
          <a:xfrm>
            <a:off x="3524940" y="4326974"/>
            <a:ext cx="3787775" cy="3903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4000" rIns="54000" anchor="ctr"/>
          <a:lstStyle>
            <a:lvl1pPr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>
              <a:lnSpc>
                <a:spcPct val="150000"/>
              </a:lnSpc>
              <a:spcBef>
                <a:spcPct val="20000"/>
              </a:spcBef>
            </a:pPr>
            <a:r>
              <a:rPr lang="ko-KR" altLang="en-US" sz="2500" dirty="0"/>
              <a:t>날짜</a:t>
            </a:r>
            <a:r>
              <a:rPr lang="en-US" altLang="ko-KR" sz="2500" dirty="0"/>
              <a:t>(2026. 09. 27)</a:t>
            </a:r>
          </a:p>
        </p:txBody>
      </p:sp>
      <p:graphicFrame>
        <p:nvGraphicFramePr>
          <p:cNvPr id="1505317" name="Group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6085162"/>
              </p:ext>
            </p:extLst>
          </p:nvPr>
        </p:nvGraphicFramePr>
        <p:xfrm>
          <a:off x="1752447" y="1691640"/>
          <a:ext cx="6400800" cy="1234440"/>
        </p:xfrm>
        <a:graphic>
          <a:graphicData uri="http://schemas.openxmlformats.org/drawingml/2006/table">
            <a:tbl>
              <a:tblPr/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344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Y궁서B" pitchFamily="18" charset="-127"/>
                          <a:ea typeface="HY궁서B" pitchFamily="18" charset="-127"/>
                        </a:rPr>
                        <a:t>10BASE-T1S (ETNF) 코드 분석</a:t>
                      </a:r>
                      <a:endParaRPr kumimoji="1" lang="en-US" altLang="ko-KR" sz="3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Y궁서B" pitchFamily="18" charset="-127"/>
                        <a:ea typeface="HY궁서B" pitchFamily="18" charset="-127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Y궁서B" pitchFamily="18" charset="-127"/>
                          <a:ea typeface="HY궁서B" pitchFamily="18" charset="-127"/>
                        </a:rPr>
                        <a:t>R-Car U5L · UM / 레지스터 맵 대조</a:t>
                      </a:r>
                      <a:endParaRPr kumimoji="1" lang="en-US" altLang="ko-KR" sz="3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Y궁서B" pitchFamily="18" charset="-127"/>
                        <a:ea typeface="HY궁서B" pitchFamily="18" charset="-127"/>
                      </a:endParaRPr>
                    </a:p>
                  </a:txBody>
                  <a:tcPr marL="72000" marR="72000" marT="36000" marB="36000" anchor="ctr" horzOverflow="overflow">
                    <a:lnL cap="flat">
                      <a:noFill/>
                    </a:lnL>
                    <a:lnR cap="flat">
                      <a:noFill/>
                    </a:lnR>
                    <a:lnT w="28575" cap="flat" cmpd="sng" algn="ctr">
                      <a:solidFill>
                        <a:srgbClr val="9696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696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Rectangle 23"/>
          <p:cNvSpPr>
            <a:spLocks noChangeArrowheads="1"/>
          </p:cNvSpPr>
          <p:nvPr/>
        </p:nvSpPr>
        <p:spPr bwMode="auto">
          <a:xfrm>
            <a:off x="3524940" y="5081354"/>
            <a:ext cx="3787775" cy="3903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4000" rIns="54000" anchor="ctr"/>
          <a:lstStyle>
            <a:lvl1pPr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>
              <a:lnSpc>
                <a:spcPct val="150000"/>
              </a:lnSpc>
              <a:spcBef>
                <a:spcPct val="20000"/>
              </a:spcBef>
            </a:pPr>
            <a:r>
              <a:rPr lang="en-US" altLang="ko-KR" sz="2500" dirty="0"/>
              <a:t>DJ Lab</a:t>
            </a:r>
          </a:p>
        </p:txBody>
      </p:sp>
    </p:spTree>
    <p:extLst>
      <p:ext uri="{BB962C8B-B14F-4D97-AF65-F5344CB8AC3E}">
        <p14:creationId xmlns:p14="http://schemas.microsoft.com/office/powerpoint/2010/main" val="286821464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분석 개요와 결론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맑은 고딕"/>
                <a:ea typeface="맑은 고딕"/>
              </a:rPr>
              <a:t>무엇을 보았나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097280"/>
          <a:ext cx="4526280" cy="1901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60120"/>
                <a:gridCol w="356616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자료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코드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U5L_ETNF_01_T1S_COM (App)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R_driver/ETNF, R_device_U5L/ETNF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User's Manual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R-Car U5x ETNF IP UM Rev.0.40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(r01uh1109ej0100) — 전문 정독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레지스터 맵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U5L_UM04pre4_ver0.5.h (SVD 기반)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ETNF0 / SELB_ETNF0 구조체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54680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※ Appendix_ETNF.xlsx(리셋값·PHY 맵)는 없어 일부 항목은 '확인 필요'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0" y="77724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2E7D32"/>
                </a:solidFill>
                <a:latin typeface="맑은 고딕"/>
                <a:ea typeface="맑은 고딕"/>
              </a:rPr>
              <a:t>58/58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레지스터 오프셋
UM과 일치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77724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C00000"/>
                </a:solidFill>
                <a:latin typeface="맑은 고딕"/>
                <a:ea typeface="맑은 고딕"/>
              </a:rPr>
              <a:t>7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Critical
멈춤·크래시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210312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D96C00"/>
                </a:solidFill>
                <a:latin typeface="맑은 고딕"/>
                <a:ea typeface="맑은 고딕"/>
              </a:rPr>
              <a:t>7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Major
기능 오동작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10312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FAF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9C7A00"/>
                </a:solidFill>
                <a:latin typeface="맑은 고딕"/>
                <a:ea typeface="맑은 고딕"/>
              </a:rPr>
              <a:t>12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Minor
품질·유지보수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703320"/>
            <a:ext cx="9098280" cy="219456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맑은 고딕"/>
                <a:ea typeface="맑은 고딕"/>
              </a:rPr>
              <a:t>결론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300" b="0" i="0">
                <a:solidFill>
                  <a:srgbClr val="262626"/>
                </a:solidFill>
                <a:latin typeface="맑은 고딕"/>
                <a:ea typeface="맑은 고딕"/>
              </a:rPr>
              <a:t>데모(MAC 루프백, 큐당 프레임 1개)는 </a:t>
            </a:r>
            <a:r>
              <a:rPr sz="1300" b="1" i="0">
                <a:solidFill>
                  <a:srgbClr val="262626"/>
                </a:solidFill>
                <a:latin typeface="맑은 고딕"/>
                <a:ea typeface="맑은 고딕"/>
              </a:rPr>
              <a:t>우연히</a:t>
            </a:r>
            <a:r>
              <a:rPr sz="1300" b="0" i="0">
                <a:solidFill>
                  <a:srgbClr val="262626"/>
                </a:solidFill>
                <a:latin typeface="맑은 고딕"/>
                <a:ea typeface="맑은 고딕"/>
              </a:rPr>
              <a:t> 통과하지만, 드라이버·ISR에 UM과 어긋나는 버그가 다수 있음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맑은 고딕"/>
                <a:ea typeface="맑은 고딕"/>
              </a:rPr>
              <a:t>실제 T1S 버스(다른 노드, 연속 수신)·모드 전환(Operation→Config, Standby)·PHY 읽기에서 </a:t>
            </a:r>
            <a:r>
              <a:rPr sz="1250" b="1" i="0">
                <a:solidFill>
                  <a:srgbClr val="C00000"/>
                </a:solidFill>
                <a:latin typeface="맑은 고딕"/>
                <a:ea typeface="맑은 고딕"/>
              </a:rPr>
              <a:t>무한 루프 / 쓰레기 포인터 / 버퍼 오버런</a:t>
            </a:r>
            <a:r>
              <a:rPr sz="1250" b="0" i="0">
                <a:solidFill>
                  <a:srgbClr val="262626"/>
                </a:solidFill>
                <a:latin typeface="맑은 고딕"/>
                <a:ea typeface="맑은 고딕"/>
              </a:rPr>
              <a:t> 가능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맑은 고딕"/>
                <a:ea typeface="맑은 고딕"/>
              </a:rPr>
              <a:t>모든 폴링에 타임아웃이 없고 에러 인터럽트 미처리 → 양산 MCAL/미들웨어에 그대로 사용 불가 (FuSa 관점 보완 필요)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ETNF 구조 한눈에 보기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11480" y="77724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맑은 고딕"/>
                <a:ea typeface="맑은 고딕"/>
              </a:rPr>
              <a:t>App  </a:t>
            </a:r>
            <a:r>
              <a:rPr sz="1100" b="0" i="0">
                <a:solidFill>
                  <a:srgbClr val="262626"/>
                </a:solidFill>
                <a:latin typeface="맑은 고딕"/>
                <a:ea typeface="맑은 고딕"/>
              </a:rPr>
              <a:t>App_main / App_sub / App_interrupt / App_ETNF_cfg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프레임 4개 송신 → 수신 비교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88920" y="1463039"/>
            <a:ext cx="0" cy="164592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11480" y="1645919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맑은 고딕"/>
                <a:ea typeface="맑은 고딕"/>
              </a:rPr>
              <a:t>Driver  </a:t>
            </a:r>
            <a:r>
              <a:rPr sz="1100" b="0" i="0">
                <a:solidFill>
                  <a:srgbClr val="262626"/>
                </a:solidFill>
                <a:latin typeface="맑은 고딕"/>
                <a:ea typeface="맑은 고딕"/>
              </a:rPr>
              <a:t>R_driver_ETNF.c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모드 전환, 디스크립터, MDIO 비트뱅잉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88920" y="2331720"/>
            <a:ext cx="0" cy="164592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11480" y="2514600"/>
            <a:ext cx="4754880" cy="141732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E2761"/>
                </a:solidFill>
                <a:latin typeface="맑은 고딕"/>
                <a:ea typeface="맑은 고딕"/>
              </a:rPr>
              <a:t>ETNF0  </a:t>
            </a:r>
            <a:r>
              <a:rPr sz="1100" b="0" i="0">
                <a:solidFill>
                  <a:srgbClr val="262626"/>
                </a:solidFill>
                <a:latin typeface="Courier New"/>
                <a:ea typeface="Courier New"/>
              </a:rPr>
              <a:t>0x5CFD_0000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21945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1E2761"/>
                </a:solidFill>
                <a:latin typeface="맑은 고딕"/>
                <a:ea typeface="맑은 고딕"/>
              </a:rPr>
              <a:t>AVB-DMAC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626"/>
                </a:solidFill>
                <a:latin typeface="맑은 고딕"/>
                <a:ea typeface="맑은 고딕"/>
              </a:rPr>
              <a:t>디스크립터로 URAM↔FIFO DMA
TX Q0~3 / RX Q0~17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926080"/>
            <a:ext cx="21945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1E2761"/>
                </a:solidFill>
                <a:latin typeface="맑은 고딕"/>
                <a:ea typeface="맑은 고딕"/>
              </a:rPr>
              <a:t>E-MAC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626"/>
                </a:solidFill>
                <a:latin typeface="맑은 고딕"/>
                <a:ea typeface="맑은 고딕"/>
              </a:rPr>
              <a:t>ECMR.DM = 0 : T1S(반이중)
DM = 1 : RMII(전이중)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88920" y="3950207"/>
            <a:ext cx="0" cy="164593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1480" y="4133087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E7D32"/>
                </a:solidFill>
                <a:latin typeface="맑은 고딕"/>
                <a:ea typeface="맑은 고딕"/>
              </a:rPr>
              <a:t>내장 PHY  </a:t>
            </a:r>
            <a:r>
              <a:rPr sz="1100" b="0" i="0">
                <a:solidFill>
                  <a:srgbClr val="262626"/>
                </a:solidFill>
                <a:latin typeface="맑은 고딕"/>
                <a:ea typeface="맑은 고딕"/>
              </a:rPr>
              <a:t>CT25205 PCS/PMA + PLCA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MDIO(주소 2)로 설정 · T1SCTL0 @0x5CC7_F000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88920" y="4837175"/>
            <a:ext cx="0" cy="164593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11480" y="5020055"/>
            <a:ext cx="4754880" cy="566928"/>
          </a:xfrm>
          <a:prstGeom prst="roundRect">
            <a:avLst>
              <a:gd name="adj" fmla="val 8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96C00"/>
                </a:solidFill>
                <a:latin typeface="맑은 고딕"/>
                <a:ea typeface="맑은 고딕"/>
              </a:rPr>
              <a:t>외부 OA TC14 트랜시버  </a:t>
            </a:r>
            <a:r>
              <a:rPr sz="1000" b="0" i="0">
                <a:solidFill>
                  <a:srgbClr val="262626"/>
                </a:solidFill>
                <a:latin typeface="Courier New"/>
                <a:ea typeface="Courier New"/>
              </a:rPr>
              <a:t>ETS0_TX / RX_MDC / ED_MDIO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731520"/>
            <a:ext cx="40233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맑은 고딕"/>
                <a:ea typeface="맑은 고딕"/>
              </a:rPr>
              <a:t>PLCA를 쉽게 말하면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097280"/>
            <a:ext cx="40233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626"/>
                </a:solidFill>
                <a:latin typeface="맑은 고딕"/>
                <a:ea typeface="맑은 고딕"/>
              </a:rPr>
              <a:t>T1S는 두 가닥 선 하나에 여러 노드가 붙는 멀티드롭 버스(CAN과 비슷). 동시에 말하면 충돌하므로, PLCA가 노드 ID 순서대로 발언권(TO)을 돌려줌.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0" y="2423160"/>
            <a:ext cx="914400" cy="9144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ID 0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맑은 고딕"/>
                <a:ea typeface="맑은 고딕"/>
              </a:rPr>
              <a:t>코디네이터
BEACON 송신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0" y="2880360"/>
            <a:ext cx="9144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492240" y="2423160"/>
            <a:ext cx="914400" cy="914400"/>
          </a:xfrm>
          <a:prstGeom prst="ellipse">
            <a:avLst/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ID 1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62626"/>
                </a:solidFill>
                <a:latin typeface="맑은 고딕"/>
                <a:ea typeface="맑은 고딕"/>
              </a:rPr>
              <a:t>노드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06640" y="2880360"/>
            <a:ext cx="91439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7498079" y="2423160"/>
            <a:ext cx="914400" cy="914400"/>
          </a:xfrm>
          <a:prstGeom prst="ellipse">
            <a:avLst/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ID 2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62626"/>
                </a:solidFill>
                <a:latin typeface="맑은 고딕"/>
                <a:ea typeface="맑은 고딕"/>
              </a:rPr>
              <a:t>노드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12480" y="2880360"/>
            <a:ext cx="91439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503920" y="2423160"/>
            <a:ext cx="914400" cy="914400"/>
          </a:xfrm>
          <a:prstGeom prst="ellipse">
            <a:avLst/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…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62626"/>
                </a:solidFill>
                <a:latin typeface="맑은 고딕"/>
                <a:ea typeface="맑은 고딕"/>
              </a:rPr>
              <a:t>NCNT까지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474720"/>
            <a:ext cx="4023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BEACON → ID0 → ID1 → … → 다시 BEACON (라운드로빈)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0" y="3931920"/>
            <a:ext cx="4023360" cy="2011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2761"/>
                </a:solidFill>
                <a:latin typeface="맑은 고딕"/>
                <a:ea typeface="맑은 고딕"/>
              </a:rPr>
              <a:t>샘플 설정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1" i="0">
                <a:solidFill>
                  <a:srgbClr val="262626"/>
                </a:solidFill>
                <a:latin typeface="맑은 고딕"/>
                <a:ea typeface="맑은 고딕"/>
              </a:rPr>
              <a:t>Master: </a:t>
            </a: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NCNT = 9, ID = 0 (코디네이터)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1" i="0">
                <a:solidFill>
                  <a:srgbClr val="262626"/>
                </a:solidFill>
                <a:latin typeface="맑은 고딕"/>
                <a:ea typeface="맑은 고딕"/>
              </a:rPr>
              <a:t>Slave: </a:t>
            </a: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ID = 1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PHY MDIO 주소 = 2 </a:t>
            </a:r>
            <a:r>
              <a:rPr sz="1050" b="0" i="0">
                <a:solidFill>
                  <a:srgbClr val="595959"/>
                </a:solidFill>
                <a:latin typeface="맑은 고딕"/>
                <a:ea typeface="맑은 고딕"/>
              </a:rPr>
              <a:t>(주소 0은 응답 안 함, UM 5.5)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보드 간 동기화: P13_7 GPIO 핸드셰이크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샘플 동작 시나리오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9052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현재 빌드 설정: APP_COM_MODE = AVB_LB (MAC 내부 루프백), APP_COM_IF = T1S, APP_COM_TEST = TxRx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80160"/>
            <a:ext cx="1463040" cy="50292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맑은 고딕"/>
                <a:ea typeface="맑은 고딕"/>
              </a:rPr>
              <a:t>TX Q3  </a:t>
            </a:r>
            <a:r>
              <a:rPr sz="1000" b="0" i="0">
                <a:solidFill>
                  <a:srgbClr val="262626"/>
                </a:solidFill>
                <a:latin typeface="Courier New"/>
                <a:ea typeface="Courier New"/>
              </a:rPr>
              <a:t>0x44…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874519" y="1527048"/>
            <a:ext cx="457201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709160" y="152704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166360" y="12801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E7D32"/>
                </a:solidFill>
                <a:latin typeface="맑은 고딕"/>
                <a:ea typeface="맑은 고딕"/>
              </a:rPr>
              <a:t>RX Q5 (Stream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938528"/>
            <a:ext cx="1463040" cy="50292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맑은 고딕"/>
                <a:ea typeface="맑은 고딕"/>
              </a:rPr>
              <a:t>TX Q2  </a:t>
            </a:r>
            <a:r>
              <a:rPr sz="1000" b="0" i="0">
                <a:solidFill>
                  <a:srgbClr val="262626"/>
                </a:solidFill>
                <a:latin typeface="Courier New"/>
                <a:ea typeface="Courier New"/>
              </a:rPr>
              <a:t>0x33…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74519" y="2185416"/>
            <a:ext cx="457201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185416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66360" y="1938528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E7D32"/>
                </a:solidFill>
                <a:latin typeface="맑은 고딕"/>
                <a:ea typeface="맑은 고딕"/>
              </a:rPr>
              <a:t>RX Q4 (Stream 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596896"/>
            <a:ext cx="1463040" cy="50292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맑은 고딕"/>
                <a:ea typeface="맑은 고딕"/>
              </a:rPr>
              <a:t>TX Q1  </a:t>
            </a:r>
            <a:r>
              <a:rPr sz="1000" b="0" i="0">
                <a:solidFill>
                  <a:srgbClr val="262626"/>
                </a:solidFill>
                <a:latin typeface="Courier New"/>
                <a:ea typeface="Courier New"/>
              </a:rPr>
              <a:t>0x22…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74519" y="2843784"/>
            <a:ext cx="457201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709160" y="2843784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66360" y="2596896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E7D32"/>
                </a:solidFill>
                <a:latin typeface="맑은 고딕"/>
                <a:ea typeface="맑은 고딕"/>
              </a:rPr>
              <a:t>RX Q3 (Stream 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255264"/>
            <a:ext cx="1463040" cy="50292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맑은 고딕"/>
                <a:ea typeface="맑은 고딕"/>
              </a:rPr>
              <a:t>TX Q0  </a:t>
            </a:r>
            <a:r>
              <a:rPr sz="1000" b="0" i="0">
                <a:solidFill>
                  <a:srgbClr val="262626"/>
                </a:solidFill>
                <a:latin typeface="Courier New"/>
                <a:ea typeface="Courier New"/>
              </a:rPr>
              <a:t>0x11…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74519" y="3502152"/>
            <a:ext cx="457201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09160" y="3502152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66360" y="3255264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E7D32"/>
                </a:solidFill>
                <a:latin typeface="맑은 고딕"/>
                <a:ea typeface="맑은 고딕"/>
              </a:rPr>
              <a:t>RX Q2 (Stream 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31720" y="1280160"/>
            <a:ext cx="2377440" cy="24780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E-MAC 루프백</a:t>
            </a:r>
          </a:p>
          <a:p>
            <a:pPr algn="ctr">
              <a:spcAft>
                <a:spcPts val="8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(CCC.LBME = 1)</a:t>
            </a:r>
          </a:p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분리 필터</a:t>
            </a:r>
          </a:p>
          <a:p>
            <a:pPr algn="ctr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맑은 고딕"/>
                <a:ea typeface="맑은 고딕"/>
              </a:rPr>
              <a:t>SFO.FBP = 14 (payload 시작)
SFM = 6 byte 비교
RCR.ESF = 01B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280160"/>
            <a:ext cx="2240280" cy="247802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송신 순서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26"/>
                </a:solidFill>
                <a:latin typeface="Courier New"/>
                <a:ea typeface="Courier New"/>
              </a:rPr>
              <a:t>TGC.TQP = 00 (Non-AVB)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→ 고정 우선순위
Q3 &gt; Q2 &gt; Q1 &gt; Q0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App_Check_Rxframe은 이 역순을 가정하고 비교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69080"/>
            <a:ext cx="9098280" cy="1828800"/>
          </a:xfrm>
          <a:prstGeom prst="roundRect">
            <a:avLst>
              <a:gd name="adj" fmla="val 8000"/>
            </a:avLst>
          </a:prstGeom>
          <a:solidFill>
            <a:srgbClr val="FAF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9C7A00"/>
                </a:solidFill>
                <a:latin typeface="맑은 고딕"/>
                <a:ea typeface="맑은 고딕"/>
              </a:rPr>
              <a:t>왜 데모는 통과하나?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큐마다 프레임이 정확히 1개 → RX ISR의 LINKFIX 미처리 버그(M1)가 드러나지 않음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모든 프레임이 필터에 매칭 → Best Effort 큐의 디스크립터 크기 불일치(M2)를 타지 않음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RQC 설정값이 전부 0 → RQC 루프 버그(C4)의 결과가 우연히 같음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TX 디스크립터 인터럽트는 DIC 불일치로 아예 안 뜸 → 망가진 TX ISR(C6)이 실행되지 않음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초기화 순서: 코드 vs UM Figure 3.39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77240"/>
          <a:ext cx="9098280" cy="4727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"/>
                <a:gridCol w="3291840"/>
                <a:gridCol w="2514600"/>
                <a:gridCol w="868680"/>
                <a:gridCol w="196596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UM 요구 사항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코드 위치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비고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Configuration 모드 전환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R_ETNF_ChangeMode(config)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E-MAC 초기화 (MAHR/MALR→ECMR→RFLR→ECSIPR→PHY)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App_InitSetting_EMAC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gPTP 클럭 선택 CCC.CSEL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없음 (APP_GPTP_CLK 미사용)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누락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M3: 타임스탬프 무의미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DBAT 설정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R_ETNF_SetDescBaseAddrTable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송신부 (DIC/TIC→TGC→TCCR→CBS)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App_InitSetting_AVBDMAC_TX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△ 주의</a:t>
                      </a:r>
                    </a:p>
                  </a:txBody>
                  <a:tcPr marL="54864" marR="54864" marT="27432" marB="27432" anchor="ctr">
                    <a:solidFill>
                      <a:srgbClr val="FDF0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DIC=DPE2 vs DIE=1 (C6)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⑥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수신부 (RICx→RCR→RQCi→RPC→SFO/SFP/SFM)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App_InitSetting_AVBDMAC_RX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C4: RQC/RPC 설정 오류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디스크립터 테이블/체인 작성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Config_DBAT, Make_Rx/TxDesc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M2: BE 큐 디스크립터 크기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⑧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Operation 모드 전환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R_ETNF_ChangeMode(operation)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⑨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PHY 설정 (PLCA)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App_ConfigureT1SPHYSetting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AVB_LB 모드에선 생략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⑩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ECMR.RE = 1, TE = 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R_ETNF_Enable_TXRX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5577840"/>
            <a:ext cx="9052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맑은 고딕"/>
                <a:ea typeface="맑은 고딕"/>
              </a:rPr>
              <a:t>순서 자체는 UM과 대부분 일치. 문제는 '빠진 단계(CSEL)'와 '단계 안의 설정 버그'.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레지스터 맵 ① AVB-DMAC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77240"/>
          <a:ext cx="9052560" cy="46268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1005840"/>
                <a:gridCol w="3520440"/>
                <a:gridCol w="2560320"/>
                <a:gridCol w="8686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Offset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비트 필드 (UM/SVD)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샘플 설정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OPC[1:0] · DTSR[8] · CSEL[17:16] · LBME[24]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OPC, LBME=1(AVB_LB)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CSEL 미설정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0x00C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CSR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OPS[3:0] (0001/0010/0100/1000)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DTS[8] · TPO0-3[19:16] · RPO[20] · TDUO[21]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폴링 (마스크 0x7)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0x090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RCR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EFFS[0] · ENCF[1] · ESF[3:2]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ETS0[4] · ETS2[5] · RFCL[28:16]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EFFS=1 ENCF=1 ESF=01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ETS0=0 ETS2=1 RFCL=0x1800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0x094~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RQC0-4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큐당 8bit: RSM[1:0] UFCC[5:4] PIA[6]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6개 큐 모두 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0x0B0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RPC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PCNT[10:8] · DCNT[23:16]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RCR 값으로 덮어씀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0x0FC/100/1C0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SFO/SFP/SFM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FBP[5:0] / 필터 s=SFP(2s),(2s+1) / CFM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FBP=14, 6 byte, 4개 필터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TGC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TSM0-3 · TQP[5:4] · TBD0-3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TQP=00, TBD=2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0x304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TCCR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TSRQ0-3 · TFEN[8] · MFEN[16]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TFEN=1, MFEN=0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△ 주의</a:t>
                      </a:r>
                    </a:p>
                  </a:txBody>
                  <a:tcPr marL="54864" marR="54864" marT="27432" marB="27432" anchor="ctr">
                    <a:solidFill>
                      <a:srgbClr val="FDF0E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DPE1-15[15:1]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DPE2 (TX DIE=1과 불일치)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0x360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RIC0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FRE0-17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0x3F (Q0~5)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5532120"/>
            <a:ext cx="9052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ETNF0 @ 0x5CFD_0000 · 오프셋 58개(CCC~CEFCR)를 SVD와 전수 대조 → 전부 일치. 드라이버에 EIC/EIS·ISS·CIE·RIE/RID 정의가 없음 (에러 처리 부재의 원인)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레지스터 맵 ② E-MAC · T1S 선택 레지스터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77240"/>
          <a:ext cx="9052560" cy="3520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1005840"/>
                <a:gridCol w="3703320"/>
                <a:gridCol w="2377440"/>
                <a:gridCol w="8686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Offset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비트 필드 (UM/SVD)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샘플 설정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ECMR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PRM[0] · DM[1] (0:T1S 반이중 / 1:RMII)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TE[5] · RE[6] · TXF~DPAD[21:16] · RCSC[23] · TRCCM[26]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DM=T1S (AVB_LB면 RMII)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DPAD=1, PRM=0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0x508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RFLR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RFL[17:0]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0xFFF (4095 B)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0x518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ECSIPR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ICDIP[0]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0x520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PIR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MDC[0] · MMD[1] · MDO[2] · MDI[3]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MDIO 비트뱅잉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0x5C0/5C8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MAHR/MALR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MA[47:16] / MA[15:0]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74:90:50:00:00:0x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SELB+0x000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T1SCTL0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PHY_ADD[4:0] · MDIO_SHARE[16] · PMA_CFG[24]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예약 [15:5], [23:17] = 리셋값 쓰기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PHY_ADD=2, SHARE=1, PMA=1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예약비트에 1 기록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? 확인필요</a:t>
                      </a:r>
                    </a:p>
                  </a:txBody>
                  <a:tcPr marL="54864" marR="54864" marT="27432" marB="27432" anchor="ctr">
                    <a:solidFill>
                      <a:srgbClr val="FAF4D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89120"/>
            <a:ext cx="4434840" cy="150876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베이스 주소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Courier New"/>
                <a:ea typeface="Courier New"/>
              </a:rPr>
              <a:t>ETNF0_inst_0      </a:t>
            </a:r>
            <a:r>
              <a:rPr sz="1050" b="1" i="0">
                <a:solidFill>
                  <a:srgbClr val="262626"/>
                </a:solidFill>
                <a:latin typeface="Courier New"/>
                <a:ea typeface="Courier New"/>
              </a:rPr>
              <a:t>0x5CFD_0000  ✔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Courier New"/>
                <a:ea typeface="Courier New"/>
              </a:rPr>
              <a:t>SELB_ETNF0_inst_0 </a:t>
            </a:r>
            <a:r>
              <a:rPr sz="1050" b="1" i="0">
                <a:solidFill>
                  <a:srgbClr val="262626"/>
                </a:solidFill>
                <a:latin typeface="Courier New"/>
                <a:ea typeface="Courier New"/>
              </a:rPr>
              <a:t>0x5CC7_F000  ✔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PIR 판정 ✖ 은 비트 정의가 아니라 읽기 코드 버그(C5) 때문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4389120"/>
            <a:ext cx="4434840" cy="1508760"/>
          </a:xfrm>
          <a:prstGeom prst="roundRect">
            <a:avLst>
              <a:gd name="adj" fmla="val 8000"/>
            </a:avLst>
          </a:prstGeom>
          <a:solidFill>
            <a:srgbClr val="FAF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9C7A00"/>
                </a:solidFill>
                <a:latin typeface="맑은 고딕"/>
                <a:ea typeface="맑은 고딕"/>
              </a:rPr>
              <a:t>UM 표기 확인 필요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ECMR.ZPF 설명: "(DM = 1) … in T1S mode" — 그런데 DM = 0 이 T1S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T1SCTL0 예약 비트 리셋값은 Appendix_ETNF.xlsx에만 있음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레지스터 맵 ③ 내장 T1S PHY (MDIO)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77240"/>
          <a:ext cx="8961120" cy="345643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60120"/>
                <a:gridCol w="1188720"/>
                <a:gridCol w="3566160"/>
                <a:gridCol w="2377440"/>
                <a:gridCol w="8686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주소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UM 비트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샘플 값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0x000000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CONTROL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RESET[15] LOOP[14] LCTL[12] LRST[9]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리셋 → LCTL=1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0x000001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LNOK[5] ANAB[3] LKST[2](Latch-Low) EXTC[0]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4비트 모두 1 대기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△ 주의</a:t>
                      </a:r>
                    </a:p>
                  </a:txBody>
                  <a:tcPr marL="54864" marR="54864" marT="27432" marB="27432" anchor="ctr">
                    <a:solidFill>
                      <a:srgbClr val="FDF0E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0x3F8001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T1STWEAKS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PKTLOOP[15] ENIE[7] SCRD[2] NCOLM[1] RXDLY[0]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NCOLM=1 RXDLY=1 (기본값)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0x3F8002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T1SPLCAEXT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PREN[15] 예약[11]=1 LDEN[1] LDR[0]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bit11=1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0x2108F9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T1SPMACTRL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PMARST[15] TXDIS[14] MULT[10] LOOP[0]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PMA_LB면 LOOP=1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0x3FCA01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PLCACTRL0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EN[15] RST[14]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EN=1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0x3FCA02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PLCACTRL1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NCNT[15:8] ID[7:0]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NCNT=9, ID=0 /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0x3F8005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T1STXCCTL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CMD[1:0] 00 NORQ / 11 RESETRQ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RESETRQ → NORQ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89120"/>
            <a:ext cx="4434840" cy="150876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Clause 45 접근 방식 ✔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Courier New"/>
                <a:ea typeface="Courier New"/>
              </a:rPr>
              <a:t>주소 = MMD &lt;&lt; 16 | reg (22bit)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26"/>
                </a:solidFill>
                <a:latin typeface="맑은 고딕"/>
                <a:ea typeface="맑은 고딕"/>
              </a:rPr>
              <a:t>Reg13 ← MMD, Reg14 ← addr, Reg13 ← 0x4000|MMD, Reg14 ↔ data (UM 5.6)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D96C00"/>
                </a:solidFill>
                <a:latin typeface="맑은 고딕"/>
                <a:ea typeface="맑은 고딕"/>
              </a:rPr>
              <a:t>WARN: 모든 STATUS 대기에 타임아웃 없음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4389120"/>
            <a:ext cx="4434840" cy="15087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맑은 고딕"/>
                <a:ea typeface="맑은 고딕"/>
              </a:rPr>
              <a:t>M4: PMA 루프백은 이 구성에서 불가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UM 5.5.1.9 CAUTION: 외부 OA 트랜시버 사용 시 T1SPMACTRL.LOOP 는 무시됨 → 루프백은 트랜시버 쪽에서 켜야 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🔴 Critical ① 모드 전환 · PHY 읽기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11480" y="777240"/>
            <a:ext cx="685800" cy="114300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C1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77240"/>
            <a:ext cx="393192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262626"/>
                </a:solidFill>
                <a:latin typeface="맑은 고딕"/>
                <a:ea typeface="맑은 고딕"/>
              </a:rPr>
              <a:t>Operation→Config 무한 루프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ourier New"/>
                <a:ea typeface="Courier New"/>
              </a:rPr>
              <a:t>R_driver_ETNF.c:128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CSR엔 OPS가 항상 있어 0이 될 수 없음. UM Fig 3.41: RPO·TPO0-3·TDUO만 대기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5257800" y="777240"/>
            <a:ext cx="4251960" cy="530352"/>
          </a:xfrm>
          <a:prstGeom prst="rect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C00000"/>
                </a:solidFill>
                <a:latin typeface="맑은 고딕"/>
                <a:ea typeface="맑은 고딕"/>
              </a:rPr>
              <a:t>✖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while( rETNFnCSR(n) != 0 );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1389888"/>
            <a:ext cx="4251960" cy="530352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2E7D32"/>
                </a:solidFill>
                <a:latin typeface="맑은 고딕"/>
                <a:ea typeface="맑은 고딕"/>
              </a:rPr>
              <a:t>✔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while( (rETNFnCSR(n) &amp; 0x003F0000UL) != 0 );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057400"/>
            <a:ext cx="685800" cy="114300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C2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57400"/>
            <a:ext cx="393192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262626"/>
                </a:solidFill>
                <a:latin typeface="맑은 고딕"/>
                <a:ea typeface="맑은 고딕"/>
              </a:rPr>
              <a:t>Config 도달 판정 오류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ourier New"/>
                <a:ea typeface="Courier New"/>
              </a:rPr>
              <a:t>R_driver_ETNF.c:141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OPS(원-핫)와 OPC enum을 비교 → 항상 실패, 불필요한 재시도 경로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057400"/>
            <a:ext cx="4251960" cy="530352"/>
          </a:xfrm>
          <a:prstGeom prst="rect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C00000"/>
                </a:solidFill>
                <a:latin typeface="맑은 고딕"/>
                <a:ea typeface="맑은 고딕"/>
              </a:rPr>
              <a:t>✖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… != ETNF_e_OPC_config_mode  /* =1 */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2670048"/>
            <a:ext cx="4251960" cy="530352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2E7D32"/>
                </a:solidFill>
                <a:latin typeface="맑은 고딕"/>
                <a:ea typeface="맑은 고딕"/>
              </a:rPr>
              <a:t>✔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… != ETNF_e_OPS_config_mode  /* =2 */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337560"/>
            <a:ext cx="685800" cy="114300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C3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7560"/>
            <a:ext cx="393192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262626"/>
                </a:solidFill>
                <a:latin typeface="맑은 고딕"/>
                <a:ea typeface="맑은 고딕"/>
              </a:rPr>
              <a:t>Standby 전환 영구 대기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ourier New"/>
                <a:ea typeface="Courier New"/>
              </a:rPr>
              <a:t>R_driver_ETNF.h:617,635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OPS는 [3:0], Standby = 1000B → &amp;0x7 하면 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3337560"/>
            <a:ext cx="4251960" cy="530352"/>
          </a:xfrm>
          <a:prstGeom prst="rect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C00000"/>
                </a:solidFill>
                <a:latin typeface="맑은 고딕"/>
                <a:ea typeface="맑은 고딕"/>
              </a:rPr>
              <a:t>✖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Reg32Read(CSR) &amp; 0x00000007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3950208"/>
            <a:ext cx="4251960" cy="530352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2E7D32"/>
                </a:solidFill>
                <a:latin typeface="맑은 고딕"/>
                <a:ea typeface="맑은 고딕"/>
              </a:rPr>
              <a:t>✔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Reg32Read(CSR) &amp; 0x0000000F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617719"/>
            <a:ext cx="685800" cy="114300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C5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617719"/>
            <a:ext cx="393192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262626"/>
                </a:solidFill>
                <a:latin typeface="맑은 고딕"/>
                <a:ea typeface="맑은 고딕"/>
              </a:rPr>
              <a:t>PHY 읽기 값 미초기화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ourier New"/>
                <a:ea typeface="Courier New"/>
              </a:rPr>
              <a:t>R_driver_ETNF.c:743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스택 쓰레기 값 → PHY 리셋·PLCA 상태 대기가 무한 대기/오통과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57800" y="4617719"/>
            <a:ext cx="4251960" cy="530352"/>
          </a:xfrm>
          <a:prstGeom prst="rect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C00000"/>
                </a:solidFill>
                <a:latin typeface="맑은 고딕"/>
                <a:ea typeface="맑은 고딕"/>
              </a:rPr>
              <a:t>✖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uint16_t read;  … read |= bit &lt;&lt; i;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57800" y="5230367"/>
            <a:ext cx="4251960" cy="530352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2E7D32"/>
                </a:solidFill>
                <a:latin typeface="맑은 고딕"/>
                <a:ea typeface="맑은 고딕"/>
              </a:rPr>
              <a:t>✔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uint16_t read = 0U;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🔴 Critical ② 수신 설정 · 인터럽트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11480" y="777240"/>
            <a:ext cx="2926080" cy="82296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C4  RQC / RPC 설정 오류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FFFFFF"/>
                </a:solidFill>
                <a:latin typeface="Courier New"/>
                <a:ea typeface="Courier New"/>
              </a:rPr>
              <a:t>R_driver_ETNF.c:389, 437-441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926080" cy="233172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queue = config_rxq-&gt;queue; 를 루프 밖에서 1회만 계산 → 6개 큐 설정이 전부 큐0 슬롯에 OR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RPC에 DCNT/PCNT를 쓴 뒤 RCR 값(0x1800_0027)으로 다시 덮어씀 → 예약 비트 위반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지금은 설정값이 전부 0이라 증상 없음 (UFCC/PIA 사용 시 오동작)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93008" y="777240"/>
            <a:ext cx="2926080" cy="82296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C6  TX 디스크립터 ISR 붕괴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FFFFFF"/>
                </a:solidFill>
                <a:latin typeface="Courier New"/>
                <a:ea typeface="Courier New"/>
              </a:rPr>
              <a:t>App_interrupt.c:150-160, 215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93008" y="1691640"/>
            <a:ext cx="2926080" cy="233172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break; 가 if 밖 → DPF15만 보고 탈출, tx_desc·int_index 미초기화 사용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읽기 CurrTxDesc[i] / 쓰기 [i-1] 인덱스 불일치, TX 4큐가 모두 DIE=1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DIC=DPE2 vs DIE=1 이라 인터럽트가 안 떠서 가려져 있음 → DPE1로 '고치면' 크래시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74536" y="777240"/>
            <a:ext cx="2926080" cy="82296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C7  MNG ISR 연산자 우선순위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FFFFFF"/>
                </a:solidFill>
                <a:latin typeface="Courier New"/>
                <a:ea typeface="Courier New"/>
              </a:rPr>
              <a:t>App_interrupt.c:241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74536" y="1691640"/>
            <a:ext cx="2926080" cy="233172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x &amp; (TFUF|TFWF) != 0  →  x &amp; 1 (FTF0 검사)로 계산됨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LulCompareUnit 미초기화 사용 가능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벡터 테이블에서 INTETNF0MNG = IntFunc_dummy (현재 죽은 코드)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4251960"/>
            <a:ext cx="9098280" cy="164592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맑은 고딕"/>
                <a:ea typeface="맑은 고딕"/>
              </a:rPr>
              <a:t>수정 방향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C4: 루프 안에서 queue 계산, RPC는 계산값으로 1회 기록, Reg32WRC 반환값 누적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C6: UM 3.1.2.7 권고대로 큐별 인터럽트(TIS.TDPFt / RIS3.RDPFr) 사용, DPE1은 끄기 — 또는 큐마다 다른 DIE 할당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🟠 Major 기능 오동작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77240"/>
          <a:ext cx="9098279" cy="40965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02920"/>
                <a:gridCol w="3657600"/>
                <a:gridCol w="1874519"/>
                <a:gridCol w="306324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위치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UM 근거 / 영향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M1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RX ISR이 LINKFIX를 따라가지 않음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→ 큐당 2번째 프레임부터 버려짐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App_interrupt.c:117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Fig 3.17: LINK, LINKFIX → DPTR로 이동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M2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BE 큐: HW는 Normal(8B), 코드는 Extended(20B)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→ 체인 깨짐, 이웃 디스크립터 덮어씀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App_ETNF_cfg.c:212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App_interrupt.c:445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3.1.7.1: TS 쓰는 큐만 Extended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(NC는 항상 Ext, BE는 ETS0)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M3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CCC.CSEL 미설정 + enum 한 칸씩 밀림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(tx_clock=1은 실제 clk_chi, gPTP=2는 Tx clock)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R_driver_ETNF_reg.h:187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Fig 3.39 필수 단계 / 타임스탬프 무의미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M4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PMA 루프백 모드 동작 불가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App_sub.c:596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5.5.1.9: 외부 OA 트랜시버 시 LOOP 무시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M5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수신 버퍼 오버런 (SIZE &lt; pos, 인덱스 미되감기)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App_RxTs[6] 경계 검사 없음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App_interrupt.c:402,435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멀티드롭 버스의 타 노드 프레임에서 발생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M6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RxBuffer_ST[4] 인데 6개 큐 DPTR 설정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App_sub.c:59,413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범위 밖 포인터 (현재 미연결)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M7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RMII 빌드 컴파일 에러 (WritePhyReg 인자 3개)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App_sub.c:217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올바른 순서: (n, addr, reg, value)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5349240"/>
            <a:ext cx="90525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6C00"/>
                </a:solidFill>
                <a:latin typeface="맑은 고딕"/>
                <a:ea typeface="맑은 고딕"/>
              </a:rPr>
              <a:t>핵심: </a:t>
            </a: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M1 + M2 + M5는 실제 T1S 버스(다중 노드, 연속 수신)에서 반드시 문제가 됨. RX 경로는 UM Fig 3.17 흐름대로 재작성 권장.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🟡 Minor 품질 · 유지보수 · FuSa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77240"/>
          <a:ext cx="9098280" cy="4754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2148840"/>
                <a:gridCol w="64008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위치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R_driver_ETNF.c:979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EtherType 바이트 순서 반대 (0x9000 → 선로에 00 90)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App_sub.c:207 외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Reg32WRC 리드백 결과 폐기 → 안전 메커니즘 무효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R_driver_ETNF.c:234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ECMR 리드백 마스크 0x04BF00C3 → 의도는 0x04BF0003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R_driver_ETNF.c:378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마스크 0x01FFF003F (9자리) 오타, 우연히 동작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R_driver_ETNF.c:264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T1SCTL0 예약 비트에 1 기록 — 리셋값 확인 필요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R_driver_ETNF.c:87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주석 'DTS=0 대기' ↔ 코드 DTS=1 대기 (코드가 맞음)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R_driver_ETNF.h:605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ISR 이름 불일치, RH850용 #pragma, ETNF_s_frame이 union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m8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R_driver_ETNF.c:562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MDC 주기를 CPU 루프로 생성 (2.5 MHz 상한 보장 안 됨)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전역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폴링 타임아웃 없음, INTETNF0ERR = dummy, ESR/EIS 미확인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m10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App_main.c:74-92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RxTx 분기 GPIO 대기에 #if 가드 없음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ECMR.ZPF 'DM=1 … T1S' 표기 오류 추정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m12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UM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RIS0/DIS/TIS 클리어 방식(0 쓰기) 명시 없음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9098280" cy="32004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C00000"/>
                </a:solidFill>
                <a:latin typeface="맑은 고딕"/>
                <a:ea typeface="맑은 고딕"/>
              </a:rPr>
              <a:t>FuSa 관점: </a:t>
            </a: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m2 · m9 는 ISO 26262 적용 시 반드시 보완 (타임아웃 + 에러 보고 + DEM 연계)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수정 우선순위와 확인 필요 사항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Oval 2"/>
          <p:cNvSpPr/>
          <p:nvPr/>
        </p:nvSpPr>
        <p:spPr>
          <a:xfrm>
            <a:off x="411480" y="777240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777240"/>
            <a:ext cx="475488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0000"/>
                </a:solidFill>
                <a:latin typeface="맑은 고딕"/>
                <a:ea typeface="맑은 고딕"/>
              </a:rPr>
              <a:t>C5 · C1 · C2 · C3   </a:t>
            </a: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한두 줄 수정으로 무한 대기 제거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344168"/>
            <a:ext cx="457200" cy="457200"/>
          </a:xfrm>
          <a:prstGeom prst="ellipse">
            <a:avLst/>
          </a:prstGeom>
          <a:solidFill>
            <a:srgbClr val="D9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344168"/>
            <a:ext cx="475488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6C00"/>
                </a:solidFill>
                <a:latin typeface="맑은 고딕"/>
                <a:ea typeface="맑은 고딕"/>
              </a:rPr>
              <a:t>M1 · M2 · M5   </a:t>
            </a: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RX 경로를 UM Fig 3.17대로 재작성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11095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11095"/>
            <a:ext cx="475488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0000"/>
                </a:solidFill>
                <a:latin typeface="맑은 고딕"/>
                <a:ea typeface="맑은 고딕"/>
              </a:rPr>
              <a:t>C6   </a:t>
            </a: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TX 완료 통지 → 큐별 인터럽트 구조로 재설계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478024"/>
            <a:ext cx="457200" cy="457200"/>
          </a:xfrm>
          <a:prstGeom prst="ellipse">
            <a:avLst/>
          </a:prstGeom>
          <a:solidFill>
            <a:srgbClr val="D9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78024"/>
            <a:ext cx="475488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6C00"/>
                </a:solidFill>
                <a:latin typeface="맑은 고딕"/>
                <a:ea typeface="맑은 고딕"/>
              </a:rPr>
              <a:t>M3   </a:t>
            </a: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CSEL 설정 + enum 값 수정 (gPTP/타임스탬프 사용 시 필수)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044952"/>
            <a:ext cx="457200" cy="457200"/>
          </a:xfrm>
          <a:prstGeom prst="ellipse">
            <a:avLst/>
          </a:prstGeom>
          <a:solidFill>
            <a:srgbClr val="9C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44952"/>
            <a:ext cx="475488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9C7A00"/>
                </a:solidFill>
                <a:latin typeface="맑은 고딕"/>
                <a:ea typeface="맑은 고딕"/>
              </a:rPr>
              <a:t>C4 · m2~m4   </a:t>
            </a: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리드백 검증을 살려 FuSa 근거로 활용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" y="3611880"/>
            <a:ext cx="457200" cy="457200"/>
          </a:xfrm>
          <a:prstGeom prst="ellipse">
            <a:avLst/>
          </a:prstGeom>
          <a:solidFill>
            <a:srgbClr val="9C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5488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9C7A00"/>
                </a:solidFill>
                <a:latin typeface="맑은 고딕"/>
                <a:ea typeface="맑은 고딕"/>
              </a:rPr>
              <a:t>m9   </a:t>
            </a: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양산 적용 시 타임아웃 · 에러 인터럽트 처리 추가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777240"/>
            <a:ext cx="3520440" cy="3246120"/>
          </a:xfrm>
          <a:prstGeom prst="roundRect">
            <a:avLst>
              <a:gd name="adj" fmla="val 8000"/>
            </a:avLst>
          </a:prstGeom>
          <a:solidFill>
            <a:srgbClr val="FAF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9C7A00"/>
                </a:solidFill>
                <a:latin typeface="맑은 고딕"/>
                <a:ea typeface="맑은 고딕"/>
              </a:rPr>
              <a:t>확인 필요 (자료 부족)</a:t>
            </a:r>
          </a:p>
          <a:p>
            <a:pPr algn="l" marL="182880" indent="-146304">
              <a:spcAft>
                <a:spcPts val="8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Appendix_ETNF.xlsx: T1SCTL0 예약 비트 리셋값, 인터럽트 플래그 클리어 방식</a:t>
            </a:r>
          </a:p>
          <a:p>
            <a:pPr algn="l" marL="182880" indent="-146304">
              <a:spcAft>
                <a:spcPts val="8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AVB_LB + T1S 조합: DM=RMII로 바꾸지만 RMII REFCLK 핀 미설정. UM 3.1.10은 루프백 시 클럭 공급 필요 → 제품 UM 클럭 섹션 확인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ECMR.ZPF 표기 (Renesas 문의)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343400"/>
            <a:ext cx="9098280" cy="155448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2761"/>
                </a:solidFill>
                <a:latin typeface="맑은 고딕"/>
                <a:ea typeface="맑은 고딕"/>
              </a:rPr>
              <a:t>다음 단계 제안</a:t>
            </a:r>
          </a:p>
          <a:p>
            <a:pPr algn="l" marL="182880" indent="-146304">
              <a:spcAft>
                <a:spcPts val="5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맑은 고딕"/>
                <a:ea typeface="맑은 고딕"/>
              </a:rPr>
              <a:t>Critical 패치 적용 후 AVB_LB → PCS_LB → 2보드 NORMAL(PLCA) 순서로 회귀 테스트</a:t>
            </a:r>
          </a:p>
          <a:p>
            <a:pPr algn="l" marL="182880" indent="-146304">
              <a:spcAft>
                <a:spcPts val="5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맑은 고딕"/>
                <a:ea typeface="맑은 고딕"/>
              </a:rPr>
              <a:t>2보드 테스트에서 큐당 여러 프레임 + 필터 비매칭 프레임을 섞어 M1/M2 재현 확인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맑은 고딕"/>
                <a:ea typeface="맑은 고딕"/>
              </a:rPr>
              <a:t>PLCADIAG(RXINTO/UNEXPB/BCNBFTO)로 PLCA 설정 오류 진단 루틴 추가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PLCA 동작 원리와 파라미터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9052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1 BT(Bit Time) = 100 ns @10 Mbps — PLCA의 모든 시간 단위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188720"/>
            <a:ext cx="1097280" cy="8686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BEACON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맑은 고딕"/>
                <a:ea typeface="맑은 고딕"/>
              </a:rPr>
              <a:t>~20 BT</a:t>
            </a:r>
          </a:p>
        </p:txBody>
      </p:sp>
      <p:sp>
        <p:nvSpPr>
          <p:cNvPr id="5" name="Rectangle 4"/>
          <p:cNvSpPr/>
          <p:nvPr/>
        </p:nvSpPr>
        <p:spPr>
          <a:xfrm>
            <a:off x="1563624" y="1188720"/>
            <a:ext cx="1417320" cy="868680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맑은 고딕"/>
                <a:ea typeface="맑은 고딕"/>
              </a:rPr>
              <a:t>ID0 TO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2E7D32"/>
                </a:solidFill>
                <a:latin typeface="맑은 고딕"/>
                <a:ea typeface="맑은 고딕"/>
              </a:rPr>
              <a:t>송신</a:t>
            </a:r>
          </a:p>
        </p:txBody>
      </p:sp>
      <p:sp>
        <p:nvSpPr>
          <p:cNvPr id="6" name="Rectangle 5"/>
          <p:cNvSpPr/>
          <p:nvPr/>
        </p:nvSpPr>
        <p:spPr>
          <a:xfrm>
            <a:off x="3035808" y="1188720"/>
            <a:ext cx="105156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595959"/>
                </a:solidFill>
                <a:latin typeface="맑은 고딕"/>
                <a:ea typeface="맑은 고딕"/>
              </a:rPr>
              <a:t>ID1 TO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  <a:latin typeface="맑은 고딕"/>
                <a:ea typeface="맑은 고딕"/>
              </a:rPr>
              <a:t>빈 차례
32 BT</a:t>
            </a:r>
          </a:p>
        </p:txBody>
      </p:sp>
      <p:sp>
        <p:nvSpPr>
          <p:cNvPr id="7" name="Rectangle 6"/>
          <p:cNvSpPr/>
          <p:nvPr/>
        </p:nvSpPr>
        <p:spPr>
          <a:xfrm>
            <a:off x="4142232" y="1188720"/>
            <a:ext cx="1417320" cy="868680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맑은 고딕"/>
                <a:ea typeface="맑은 고딕"/>
              </a:rPr>
              <a:t>ID2 TO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2E7D32"/>
                </a:solidFill>
                <a:latin typeface="맑은 고딕"/>
                <a:ea typeface="맑은 고딕"/>
              </a:rPr>
              <a:t>송신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5614416" y="1188720"/>
            <a:ext cx="54864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595959"/>
                </a:solidFill>
                <a:latin typeface="맑은 고딕"/>
                <a:ea typeface="맑은 고딕"/>
              </a:rPr>
              <a:t>…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105156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595959"/>
                </a:solidFill>
                <a:latin typeface="맑은 고딕"/>
                <a:ea typeface="맑은 고딕"/>
              </a:rPr>
              <a:t>ID N-1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  <a:latin typeface="맑은 고딕"/>
                <a:ea typeface="맑은 고딕"/>
              </a:rPr>
              <a:t>빈 차례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24344" y="1188720"/>
            <a:ext cx="1143000" cy="8686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BEACON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맑은 고딕"/>
                <a:ea typeface="맑은 고딕"/>
              </a:rPr>
              <a:t>다음 사이클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103120"/>
            <a:ext cx="90525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코디네이터(ID 0)가 BEACON으로 사이클 시작 → 노드별 차례(TO)에만 송신 → 물리 충돌 0, 지연 계산 가능(결정론적)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2514600"/>
          <a:ext cx="9098280" cy="27523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91640"/>
                <a:gridCol w="1828800"/>
                <a:gridCol w="1417320"/>
                <a:gridCol w="4160520"/>
              </a:tblGrid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파라미터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 (UM 5.5.1)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기본값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 / 주의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NCNT (Node Count)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PLCACTRL1[15:8]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한 사이클 차례 수 — 코디네이터(ID 0)에만 의미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ID (Local ID)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PLCACTRL1[7:0]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0xFF (PLCA 끔)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내 차례 번호, 0 = 코디네이터, ECU마다 고유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TO_TIMER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PLCATOTMR[7:0]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32 BT = 3.2 µs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빈 차례 대기 시간 — 네트워크 전체 동일 값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MAXBC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PLCABURST[15:8]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한 차례 추가 전송 프레임 수 (Burst)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BTMR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PLCABURST[7:0]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128 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Burst 시 다음 프레임 대기 (≥ IFG 96 BT)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EN / RST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PLCACTRL0[15] / [14]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 / 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PLCA 켜기 / PLCA RS 리셋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11480" y="5440680"/>
            <a:ext cx="9098280" cy="45720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E2761"/>
                </a:solidFill>
                <a:latin typeface="맑은 고딕"/>
                <a:ea typeface="맑은 고딕"/>
              </a:rPr>
              <a:t>CAN과 비교: </a:t>
            </a: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CAN = ID 우선순위 중재(낮은 ID가 항상 이김) / PLCA = 라운드로빈(공평하게 돌아가며). 우선순위가 필요하면 Burst 또는 Precedence 모드(UM 5.4.3)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PLCA 타이밍 계산: 최악 지연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11480" y="777240"/>
            <a:ext cx="3017520" cy="1115568"/>
          </a:xfrm>
          <a:prstGeom prst="roundRect">
            <a:avLst>
              <a:gd name="adj" fmla="val 8000"/>
            </a:avLst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맑은 고딕"/>
                <a:ea typeface="맑은 고딕"/>
              </a:rPr>
              <a:t>빈 사이클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E7D32"/>
                </a:solidFill>
                <a:latin typeface="맑은 고딕"/>
                <a:ea typeface="맑은 고딕"/>
              </a:rPr>
              <a:t>≈ 27.6 µs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Courier New"/>
                <a:ea typeface="Courier New"/>
              </a:rPr>
              <a:t>BEACON 20 + 8 × 32 BT
= 276 BT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011680"/>
            <a:ext cx="3017520" cy="1115568"/>
          </a:xfrm>
          <a:prstGeom prst="roundRect">
            <a:avLst>
              <a:gd name="adj" fmla="val 8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D96C00"/>
                </a:solidFill>
                <a:latin typeface="맑은 고딕"/>
                <a:ea typeface="맑은 고딕"/>
              </a:rPr>
              <a:t>최대 프레임 1개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D96C00"/>
                </a:solidFill>
                <a:latin typeface="맑은 고딕"/>
                <a:ea typeface="맑은 고딕"/>
              </a:rPr>
              <a:t>≈ 1.23 ms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Courier New"/>
                <a:ea typeface="Courier New"/>
              </a:rPr>
              <a:t>(8 + 1518) B × 8 + IFG 96
≈ 12,300 BT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246120"/>
            <a:ext cx="3017520" cy="1115568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E2761"/>
                </a:solidFill>
                <a:latin typeface="맑은 고딕"/>
                <a:ea typeface="맑은 고딕"/>
              </a:rPr>
              <a:t>최소 프레임 1개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E2761"/>
                </a:solidFill>
                <a:latin typeface="맑은 고딕"/>
                <a:ea typeface="맑은 고딕"/>
              </a:rPr>
              <a:t>≈ 67 µs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Courier New"/>
                <a:ea typeface="Courier New"/>
              </a:rPr>
              <a:t>(8 + 64) B × 8 + IFG 96
= 672 BT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0" y="777240"/>
          <a:ext cx="585216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0" y="452628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E2761"/>
                </a:solidFill>
                <a:latin typeface="Courier New"/>
                <a:ea typeface="Courier New"/>
              </a:rPr>
              <a:t>최악 대기 ≈ (N − 1) × 앞 노드들의 최대 프레임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작은 제어 프레임(64 B)만 오가면 N = 8에서도 ≈ 0.47 ms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Burst(MAXBC)를 켠 노드는 여러 프레임을 보내므로 다른 노드의 최악 지연이 그만큼 증가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452628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0000"/>
                </a:solidFill>
                <a:latin typeface="맑은 고딕"/>
                <a:ea typeface="맑은 고딕"/>
              </a:rPr>
              <a:t>설계 포인트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NCNT는 실제 노드 수만큼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DoIP/OTA 같은 큰 프레임 노드는 분리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요구 주기(예: 10 ms)와 비교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TO_TIMER · 샘플 설정 적용 · PLCA 진단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11480" y="777240"/>
            <a:ext cx="4434840" cy="233172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E2761"/>
                </a:solidFill>
                <a:latin typeface="맑은 고딕"/>
                <a:ea typeface="맑은 고딕"/>
              </a:rPr>
              <a:t>TO_TIMER를 줄여도 될까?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262626"/>
                </a:solidFill>
                <a:latin typeface="Courier New"/>
                <a:ea typeface="Courier New"/>
              </a:rPr>
              <a:t>TO_TIMER ≥ 왕복 전파지연 + PHY 지연 + 2 BT</a:t>
            </a:r>
          </a:p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(UM 5.5.1.28 CAUTION)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25 m 케이블 ≈ 5 ns/m × 25 = 125 ns ≈ 1.25 BT (편도)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기본 32 BT는 여유가 큼 → 줄이면 빈 차례 낭비 감소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단, 모든 노드 동시 변경 + 실측 검증 필수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74920" y="777240"/>
            <a:ext cx="4434840" cy="2331720"/>
          </a:xfrm>
          <a:prstGeom prst="roundRect">
            <a:avLst>
              <a:gd name="adj" fmla="val 8000"/>
            </a:avLst>
          </a:prstGeom>
          <a:solidFill>
            <a:srgbClr val="FAF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9C7A00"/>
                </a:solidFill>
                <a:latin typeface="맑은 고딕"/>
                <a:ea typeface="맑은 고딕"/>
              </a:rPr>
              <a:t>앞서 분석한 샘플에 적용하면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설정 NCNT = 9, 실제 노드 2개 (ID 0, 1)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빈 차례 7개 × 3.2 µs ≈ 사이클마다 22 µs 낭비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기능 문제는 없으나 양산에선 NCNT = 실제 노드 수 권장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150" b="0" i="0">
                <a:solidFill>
                  <a:srgbClr val="C00000"/>
                </a:solidFill>
                <a:latin typeface="맑은 고딕"/>
                <a:ea typeface="맑은 고딕"/>
              </a:rPr>
              <a:t>ID ≥ NCNT 인 노드는 영원히 차례를 못 받음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91840"/>
            <a:ext cx="9052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맑은 고딕"/>
                <a:ea typeface="맑은 고딕"/>
              </a:rPr>
              <a:t>PLCADIAG (0x3FCA06) — 네트워크 설정 오류 진단 (UM 5.4.4, 1 쓰기로 클리어)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657600"/>
          <a:ext cx="90982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1280160"/>
                <a:gridCol w="3291840"/>
                <a:gridCol w="388620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비트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켜지는 조건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의심할 원인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C00000"/>
                          </a:solidFill>
                          <a:latin typeface="Courier New"/>
                          <a:ea typeface="Courier New"/>
                        </a:rPr>
                        <a:t>BCNBFTO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4 사이클 연속 차례를 못 받음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내 ID ≥ 코디네이터 NCNT, 코디네이터가 여럿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C00000"/>
                          </a:solidFill>
                          <a:latin typeface="Courier New"/>
                          <a:ea typeface="Courier New"/>
                        </a:rPr>
                        <a:t>UNEXPB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코디네이터인데 다른 BEACON 수신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ID 0 노드가 2개 이상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C00000"/>
                          </a:solidFill>
                          <a:latin typeface="Courier New"/>
                          <a:ea typeface="Courier New"/>
                        </a:rPr>
                        <a:t>RXINTO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내 차례에 다른 노드가 송신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ID 중복, PLCA 꺼진(CSMA/CD) 노드 존재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5440680"/>
            <a:ext cx="9052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맑은 고딕"/>
                <a:ea typeface="맑은 고딕"/>
              </a:rPr>
              <a:t>보조 지표: </a:t>
            </a: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T1SPCSDIAG2 (물리 충돌 카운터) — PLCA가 정상이면 0이어야 함. 코디네이터가 사라지면 PLCAST.PST = 0 → CSMA/CD로 폴백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AUTOSAR에서 10BASE-T1S: 스택 구조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11480" y="822960"/>
            <a:ext cx="420624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262626"/>
                </a:solidFill>
                <a:latin typeface="맑은 고딕"/>
                <a:ea typeface="맑은 고딕"/>
              </a:rPr>
              <a:t>SOME/IP · DoIP · UdpNm · SD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09160" y="822960"/>
            <a:ext cx="118872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변경 없음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36192"/>
            <a:ext cx="420624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262626"/>
                </a:solidFill>
                <a:latin typeface="맑은 고딕"/>
                <a:ea typeface="맑은 고딕"/>
              </a:rPr>
              <a:t>SoAd  ·  TcpIp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1536192"/>
            <a:ext cx="118872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변경 없음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9424"/>
            <a:ext cx="420624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262626"/>
                </a:solidFill>
                <a:latin typeface="맑은 고딕"/>
                <a:ea typeface="맑은 고딕"/>
              </a:rPr>
              <a:t>EthIf   ─   EthSM → ComM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2249424"/>
            <a:ext cx="118872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링크 상태 전달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962656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D9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Eth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맑은 고딕"/>
                <a:ea typeface="맑은 고딕"/>
              </a:rPr>
              <a:t>MAC 드라이버 (MCAL)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2962656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D9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EthTrcv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맑은 고딕"/>
                <a:ea typeface="맑은 고딕"/>
              </a:rPr>
              <a:t>PHY / PLCA 드라이버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962656"/>
            <a:ext cx="11887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D96C00"/>
                </a:solidFill>
                <a:latin typeface="맑은 고딕"/>
                <a:ea typeface="맑은 고딕"/>
              </a:rPr>
              <a:t>★ T1S 차이는
여기 두 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014216"/>
            <a:ext cx="2011680" cy="54864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1E2761"/>
                </a:solidFill>
                <a:latin typeface="맑은 고딕"/>
                <a:ea typeface="맑은 고딕"/>
              </a:rPr>
              <a:t>ETNF 레지스터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4014216"/>
            <a:ext cx="2011680" cy="54864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E2761"/>
                </a:solidFill>
                <a:latin typeface="맑은 고딕"/>
                <a:ea typeface="맑은 고딕"/>
              </a:rPr>
              <a:t>MDIO (Eth_Read/WriteMii)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17320" y="3877056"/>
            <a:ext cx="0" cy="128016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611880" y="3877056"/>
            <a:ext cx="0" cy="128016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35040" y="822960"/>
            <a:ext cx="3474720" cy="5074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1E2761"/>
                </a:solidFill>
                <a:latin typeface="맑은 고딕"/>
                <a:ea typeface="맑은 고딕"/>
              </a:rPr>
              <a:t>핵심 정리</a:t>
            </a:r>
          </a:p>
          <a:p>
            <a:pPr algn="l" marL="182880" indent="-146304">
              <a:spcAft>
                <a:spcPts val="10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맑은 고딕"/>
                <a:ea typeface="맑은 고딕"/>
              </a:rPr>
              <a:t>상위 계층(TcpIp, SoAd, SOME/IP)은 링크가 T1S인지 몰라도 됨</a:t>
            </a:r>
          </a:p>
          <a:p>
            <a:pPr algn="l" marL="182880" indent="-146304">
              <a:spcAft>
                <a:spcPts val="10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맑은 고딕"/>
                <a:ea typeface="맑은 고딕"/>
              </a:rPr>
              <a:t>스위치가 없으므로 EthSwt 불필요</a:t>
            </a:r>
          </a:p>
          <a:p>
            <a:pPr algn="l" marL="182880" indent="-146304">
              <a:spcAft>
                <a:spcPts val="10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맑은 고딕"/>
                <a:ea typeface="맑은 고딕"/>
              </a:rPr>
              <a:t>U5L은 MAC + 디지털 PHY(PLCA) 내장 → EthTrcv는 Eth_WriteMii 경유로 PHY 설정 (주소 2)</a:t>
            </a:r>
          </a:p>
          <a:p>
            <a:pPr algn="l" marL="182880" indent="-146304">
              <a:spcAft>
                <a:spcPts val="10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맑은 고딕"/>
                <a:ea typeface="맑은 고딕"/>
              </a:rPr>
              <a:t>외부 TC14 트랜시버는 아날로그 전용 → 3핀(TX/RX/ED)으로 PMA가 제어 (T1STXCCTL)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맑은 고딕"/>
                <a:ea typeface="맑은 고딕"/>
              </a:rPr>
              <a:t>MAC 없는 MCU</a:t>
            </a:r>
            <a:r>
              <a:rPr sz="1200" b="0" i="0">
                <a:solidFill>
                  <a:srgbClr val="262626"/>
                </a:solidFill>
                <a:latin typeface="맑은 고딕"/>
                <a:ea typeface="맑은 고딕"/>
              </a:rPr>
              <a:t>는 OA TC6 MAC-PHY(SPI) 사용 → Eth 드라이버가 Spi 모듈 위에서 동작, 지연 계산에 SPI 처리량 포함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Eth · EthTrcv 설정 포인트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4480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E2761"/>
                </a:solidFill>
                <a:latin typeface="맑은 고딕"/>
                <a:ea typeface="맑은 고딕"/>
              </a:rPr>
              <a:t>Eth (MAC, MCAL)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097280"/>
          <a:ext cx="4434840" cy="2560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28803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T1S 값 / 분석 코드와 연결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속도 / 이중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10 Mbps / Half  (ECMR.DM = 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Eth_Init ·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SetControllerMode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Config → Operation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R_ETNF_ChangeMode (C1~C3)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Eth_Transmit ·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Receive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디스크립터 링 / ISR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(M1, M2, C6)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Eth_Read/WriteMii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PHY 접근 통로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R_ETNF_ReadPhyReg (C5)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74920" y="731520"/>
            <a:ext cx="4480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E2761"/>
                </a:solidFill>
                <a:latin typeface="맑은 고딕"/>
                <a:ea typeface="맑은 고딕"/>
              </a:rPr>
              <a:t>EthTrcv (PHY)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74920" y="1097280"/>
          <a:ext cx="4434840" cy="2560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283464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MII(MDIO) 주소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2  (주소 0 무응답, T1SCTL0.PHY_ADD)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속도 / 이중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10 Mbps / Half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Auto-Negotiation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사용 안 함 (T1S에 없음)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PLCA Node ID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ECU마다 고유 (코디네이터 = 0)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PLCA Node Count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코디네이터에만 의미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TO_TIMER / Burst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네트워크 전체 동일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3886200"/>
            <a:ext cx="9098280" cy="109728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맑은 고딕"/>
                <a:ea typeface="맑은 고딕"/>
              </a:rPr>
              <a:t>Dem 이벤트 (Eth SWS) — 반이중 T1S에서 특히 중요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1" i="0">
                <a:solidFill>
                  <a:srgbClr val="262626"/>
                </a:solidFill>
                <a:latin typeface="Courier New"/>
                <a:ea typeface="Courier New"/>
              </a:rPr>
              <a:t>ETH_E_ACCESS</a:t>
            </a: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: HW 접근 실패 → 모드 전환·PHY 대기 타임아웃(m9)을 여기로 보고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1" i="0">
                <a:solidFill>
                  <a:srgbClr val="262626"/>
                </a:solidFill>
                <a:latin typeface="Courier New"/>
                <a:ea typeface="Courier New"/>
              </a:rPr>
              <a:t>ETH_E_SINGLE/MULTIPLE/LATECOLLISION</a:t>
            </a: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: PLCA 정상이면 0 → 증가 시 ID 중복·PLCA 꺼진 노드 의심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5120640"/>
            <a:ext cx="9098280" cy="777240"/>
          </a:xfrm>
          <a:prstGeom prst="roundRect">
            <a:avLst>
              <a:gd name="adj" fmla="val 8000"/>
            </a:avLst>
          </a:prstGeom>
          <a:solidFill>
            <a:srgbClr val="FAF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9C7A00"/>
                </a:solidFill>
                <a:latin typeface="맑은 고딕"/>
                <a:ea typeface="맑은 고딕"/>
              </a:rPr>
              <a:t>주의: </a:t>
            </a: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PLCA 파라미터 이름은 AUTOSAR 릴리스·벤더마다 다름. 구버전 스택은 표준 파라미터가 없을 수 있어 Vendor-specific 파라미터나 Init 콜아웃에서 MDIO로 직접 설정 → 사용하는 릴리스와 Renesas MCAL/EthTrcv BSWMD에서 확인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EthTrcv 초기화 시퀀스와 설계 체크리스트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4754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2761"/>
                </a:solidFill>
                <a:latin typeface="맑은 고딕"/>
                <a:ea typeface="맑은 고딕"/>
              </a:rPr>
              <a:t>EthTrcv_SetTransceiverMode(ACTIVE) 내부</a:t>
            </a:r>
          </a:p>
        </p:txBody>
      </p:sp>
      <p:sp>
        <p:nvSpPr>
          <p:cNvPr id="4" name="Oval 3"/>
          <p:cNvSpPr/>
          <p:nvPr/>
        </p:nvSpPr>
        <p:spPr>
          <a:xfrm>
            <a:off x="411480" y="1115568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78992"/>
            <a:ext cx="42062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Courier New"/>
                <a:ea typeface="Courier New"/>
              </a:rPr>
              <a:t>CONTROL.RESET → 완료 대기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타임아웃 필수</a:t>
            </a:r>
          </a:p>
        </p:txBody>
      </p:sp>
      <p:sp>
        <p:nvSpPr>
          <p:cNvPr id="6" name="Oval 5"/>
          <p:cNvSpPr/>
          <p:nvPr/>
        </p:nvSpPr>
        <p:spPr>
          <a:xfrm>
            <a:off x="411480" y="1783080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46504"/>
            <a:ext cx="42062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Courier New"/>
                <a:ea typeface="Courier New"/>
              </a:rPr>
              <a:t>CONTROL.LCTL = 1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링크 활성</a:t>
            </a:r>
          </a:p>
        </p:txBody>
      </p:sp>
      <p:sp>
        <p:nvSpPr>
          <p:cNvPr id="8" name="Oval 7"/>
          <p:cNvSpPr/>
          <p:nvPr/>
        </p:nvSpPr>
        <p:spPr>
          <a:xfrm>
            <a:off x="411480" y="2450591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14015"/>
            <a:ext cx="42062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맑은 고딕"/>
                <a:ea typeface="맑은 고딕"/>
              </a:rPr>
              <a:t>T1STWEAKS · T1SPLCAEXT · T1SPMACTRL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Clause 45 (Reg13/14)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3118104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81528"/>
            <a:ext cx="42062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Courier New"/>
                <a:ea typeface="Courier New"/>
              </a:rPr>
              <a:t>PLCACTRL1 = NCNT&lt;&lt;8 | ID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노드 설정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785615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49039"/>
            <a:ext cx="42062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Courier New"/>
                <a:ea typeface="Courier New"/>
              </a:rPr>
              <a:t>PLCACTRL0.EN = 1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PLCA 켜기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445312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416552"/>
            <a:ext cx="42062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맑은 고딕"/>
                <a:ea typeface="맑은 고딕"/>
              </a:rPr>
              <a:t>T1STXCCTL: RESETRQ → NORQ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트랜시버 초기화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512064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084064"/>
            <a:ext cx="42062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맑은 고딕"/>
                <a:ea typeface="맑은 고딕"/>
              </a:rPr>
              <a:t>STATUS 링크 확인 → EthSM 통보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GetLinkState = ACTIVE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9240" y="777240"/>
            <a:ext cx="4160520" cy="512064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1E2761"/>
                </a:solidFill>
                <a:latin typeface="맑은 고딕"/>
                <a:ea typeface="맑은 고딕"/>
              </a:rPr>
              <a:t>설계 체크리스트</a:t>
            </a:r>
          </a:p>
          <a:p>
            <a:pPr algn="l">
              <a:spcAft>
                <a:spcPts val="1400"/>
              </a:spcAft>
            </a:pPr>
            <a:r>
              <a:rPr sz="1250" b="1" i="0">
                <a:solidFill>
                  <a:srgbClr val="262626"/>
                </a:solidFill>
                <a:latin typeface="맑은 고딕"/>
                <a:ea typeface="맑은 고딕"/>
              </a:rPr>
              <a:t>① 네트워크 설정표: </a:t>
            </a:r>
            <a:r>
              <a:rPr sz="1250" b="0" i="0">
                <a:solidFill>
                  <a:srgbClr val="262626"/>
                </a:solidFill>
                <a:latin typeface="맑은 고딕"/>
                <a:ea typeface="맑은 고딕"/>
              </a:rPr>
              <a:t>ECU별 ID, 코디네이터 1개, NCNT = 실제 노드 수, 전 노드 동일 TO_TIMER</a:t>
            </a:r>
          </a:p>
          <a:p>
            <a:pPr algn="l">
              <a:spcAft>
                <a:spcPts val="1400"/>
              </a:spcAft>
            </a:pPr>
            <a:r>
              <a:rPr sz="1250" b="1" i="0">
                <a:solidFill>
                  <a:srgbClr val="262626"/>
                </a:solidFill>
                <a:latin typeface="맑은 고딕"/>
                <a:ea typeface="맑은 고딕"/>
              </a:rPr>
              <a:t>② 최악 지연 계산: </a:t>
            </a:r>
            <a:r>
              <a:rPr sz="1250" b="0" i="0">
                <a:solidFill>
                  <a:srgbClr val="262626"/>
                </a:solidFill>
                <a:latin typeface="맑은 고딕"/>
                <a:ea typeface="맑은 고딕"/>
              </a:rPr>
              <a:t>요구 주기와 비교, 큰 프레임(DoIP/OTA) 분리</a:t>
            </a:r>
          </a:p>
          <a:p>
            <a:pPr algn="l">
              <a:spcAft>
                <a:spcPts val="1400"/>
              </a:spcAft>
            </a:pPr>
            <a:r>
              <a:rPr sz="1250" b="1" i="0">
                <a:solidFill>
                  <a:srgbClr val="262626"/>
                </a:solidFill>
                <a:latin typeface="맑은 고딕"/>
                <a:ea typeface="맑은 고딕"/>
              </a:rPr>
              <a:t>③ 코디네이터 고장: </a:t>
            </a:r>
            <a:r>
              <a:rPr sz="1250" b="0" i="0">
                <a:solidFill>
                  <a:srgbClr val="262626"/>
                </a:solidFill>
                <a:latin typeface="맑은 고딕"/>
                <a:ea typeface="맑은 고딕"/>
              </a:rPr>
              <a:t>BEACON 소실 → CSMA/CD 폴백(PST = 0). FuSa 안전 상태 전이 조건으로 정의할지 결정</a:t>
            </a:r>
          </a:p>
          <a:p>
            <a:pPr algn="l">
              <a:spcAft>
                <a:spcPts val="1400"/>
              </a:spcAft>
            </a:pPr>
            <a:r>
              <a:rPr sz="1250" b="1" i="0">
                <a:solidFill>
                  <a:srgbClr val="262626"/>
                </a:solidFill>
                <a:latin typeface="맑은 고딕"/>
                <a:ea typeface="맑은 고딕"/>
              </a:rPr>
              <a:t>④ 진단 루틴: </a:t>
            </a:r>
            <a:r>
              <a:rPr sz="1250" b="0" i="0">
                <a:solidFill>
                  <a:srgbClr val="262626"/>
                </a:solidFill>
                <a:latin typeface="맑은 고딕"/>
                <a:ea typeface="맑은 고딕"/>
              </a:rPr>
              <a:t>PLCADIAG · 충돌 카운터를 주기적으로 읽어 Dem 보고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62626"/>
                </a:solidFill>
                <a:latin typeface="맑은 고딕"/>
                <a:ea typeface="맑은 고딕"/>
              </a:rPr>
              <a:t>⑤ MCAL 검증: </a:t>
            </a:r>
            <a:r>
              <a:rPr sz="1250" b="0" i="0">
                <a:solidFill>
                  <a:srgbClr val="C00000"/>
                </a:solidFill>
                <a:latin typeface="맑은 고딕"/>
                <a:ea typeface="맑은 고딕"/>
              </a:rPr>
              <a:t>샘플에서 찾은 C1~C6가 양산 MCAL에서 고쳐졌는지 릴리스 노트·코드로 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비트 상세 · AVB-DMAC (1/3)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31520"/>
          <a:ext cx="9098280" cy="43982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4526280"/>
                <a:gridCol w="1371600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비트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샘플 설정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CCC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0x000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[1:0]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OPC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동작 모드 설정: 00 Reset / 01 Config / 10 Operation / 11 Standby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모드 전환 시 변경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[7]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GAC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 = Config 모드에서도 gPTP 동작 유지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[8]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DTSR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데이터 전송 일시정지 요청 (완료는 CSR.DTS로 확인)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모드 전환 시 1→0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[17:16]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CSEL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gPTP 클럭 선택: 00 미사용 / 01 clk_chi(내부 전용) / 10 Tx clock / 11 gPTP clock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미설정(00) ✖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BOC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바이트 배치: 0 = 첫 바이트가 URAM[7:0] / 1 = URAM[31:24]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[24]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LBME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E-MAC 내부 루프백 (Config 모드에서만 쓰기 가능)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AVB_LB면 1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[25]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FCE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흐름 제어(Flow Control) 사용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CSR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0x00C (RO)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[3:0]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OPS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현재 모드(원-핫): 0001 Reset / 0010 Config / 0100 Operation / 1000 Standby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마스크 0x7 ✖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DTS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 = 전송 일시정지 완료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DTSR 후 대기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[19:16]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TPO3-0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TX 큐 t 전송 진행 중 (Q0 BE / Q1 NC / Q2 Class B / Q3 Class 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0이 될 때까지 대기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RPO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 = 수신 진행 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 대기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TDUO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 = TX 디스크립터 URAM 갱신 대기 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 대기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비트 상세 · AVB-DMAC (2/3)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31520"/>
          <a:ext cx="9098280" cy="43982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4526280"/>
                <a:gridCol w="1371600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비트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샘플 설정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RCR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0x090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EFFS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에러 프레임도 큐0(BE)에 저장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ENCF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네트워크 컨트롤(gPTP: DA 01:80:C2:00:00:0E, ET 88F7) → 큐1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[3:2]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ESF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스트림 필터: 00 끔 / 01 분리필터, 불일치→큐0 / 10 IEEE1722만, 불일치 폐기 / 11 IEEE1722만, 불일치→큐0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01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[4]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ETS0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큐0(BE) 수신 타임스탬프 → Extended 디스크립터(20 B) 필요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 (M2 관련)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[5]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ETS2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스트림 큐(r ≥ 2) 수신 타임스탬프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[28:16]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RFCL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Rx FIFO 경고 레벨 (권장 0x1800)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0x1800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RQCi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0x094~0xA4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r×8+[1:0]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RSMr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큐 r 수신 동기 모드: 00 = 디스크립터 write-back (10 = no write-back)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r×8+[5:4]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UFCCr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큐 r 미읽음 프레임 카운터 정지 레벨 선택 (0 = 정지 기능 끔)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r×8+[6]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PIAr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Incremental 영역: 0 = 프레임마다 32 bit 정렬 / 1 = 빈틈 없이 채움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RPC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0x0B0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[10:8]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PCNT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삽입할 패딩 워드 수 (1~7), Incremental 영역에서만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[23:16]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DCNT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패딩을 반복 삽입할 데이터 워드 간격 (1~255)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0 (덮어씀 ✖)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SFO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0x0FC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[5:0]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FBP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분리 필터가 비교를 시작할 프레임 바이트 위치 (IEEE1722는 22)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14 (payload)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비트 상세 · AVB-DMAC (3/3)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31520"/>
          <a:ext cx="9098280" cy="43982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4526280"/>
                <a:gridCol w="1371600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비트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샘플 설정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SFPi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0x100~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[31:0]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FP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필터 s 패턴 64 bit: SFP(2s) = 하위, SFP(2s+1) = 상위 (Config 모드에서 직접 쓰기)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0x11…~0x44…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SFMi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0x1C0/1C4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[31:0]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CFM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모든 필터 공통 마스크 (1 = 비교할 비트)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6 byte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SFL / SFVi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0x1C8 / 0x1B8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[4:0]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LC / LV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Operation 중 필터 갱신: LV에 값 → LC에 대상(0~15 필터, 29 마스크, 30 오프셋), 31 = 완료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미사용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TGC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[3:0]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TSM3-0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TX 큐별 동기 모드 (0 = write-back)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[5:4]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TQP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TX 우선순위: 00 Non-AVB(Q3&gt;Q2&gt;Q1&gt;Q0) / 01 AVB mode1 / 11 AVB mode2(NC 최우선)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[9:8]…[21:20]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TBD0-3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큐별 TX FIFO 깊이(프레임 수), 1 클러스터 = 128 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TCCR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0x304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[3:0]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TSRQ3-0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TX 큐 전송 시작 요청 (FEMPTY/EOS를 만나면 HW가 0으로)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0xF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[8] / [9]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TFEN / TFR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송신 타임스탬프 FIFO 사용 / 가장 오래된 항목 해제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 / 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[16] / [17]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MFEN / MFR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MAC 상태 FIFO 사용 / 가장 오래된 항목 해제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 / 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DIC / DIS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0x350 / 0x354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[15:1]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DPE / DPF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디스크립터 인터럽트 i 허용 / 발생 플래그 (DIE = i인 디스크립터 처리 시)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DPE2 (DIE=1 ✖)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RIC0 / RIS0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0x360 / 0x364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[17:0]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FRE / FRF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큐 r 수신 프레임 인터럽트 허용 / 플래그 (0 BE, 1 NC, 2~17 스트림)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0x3F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TIC / TIS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0x378 / 0x37C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[3:0] [19:16]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FTE / TDPE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프레임 송신 완료 / 큐별 TX 디스크립터 처리 인터럽트 (UM 3.1.2.7 권장)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미사용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비트 상세 · E-MAC · T1S 선택 (1/2)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31520"/>
          <a:ext cx="9098280" cy="40599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4526280"/>
                <a:gridCol w="1371600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비트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샘플 설정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ECMR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0x500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PRM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프로미스큐어스: 주소와 무관하게 모두 수신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DM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 = T1S 모드(반이중) / 1 = RMII(전이중)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T1S (AVB_LB: RMII)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[5] / [6]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TE / RE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송신 허용 / 수신 허용 (초기화 마지막 단계에서 1)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 / 1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[16] / [17]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TXF / RXF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PAUSE 송신 / 수신 흐름제어 (T1S에서는 0)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 / 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[18]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PFR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수신한 PAUSE 프레임을 URAM으로 전달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[19]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ZPF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전이중: TIME=0 PAUSE 사용 / T1S: 1이면 CRS 검사 안 함 (UM 표기 확인 필요)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RZPF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TIME=0 PAUSE 프레임 수신 허용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[21]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DPAD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 = 60 B 미만 송신 시 패딩 안 넣음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[23]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RCSC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수신 체크섬 자동 계산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[26]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TRCCM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통계 카운터 클리어: 0 = 쓰면 클리어 / 1 = 읽으면 클리어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RFLR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0x508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[17:0]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RFL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최대 수신 프레임 길이 (0~0x5EE = 1518 B, 그 이상은 값 = 바이트)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0xFFF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비트 상세 · E-MAC · T1S 선택 (2/2)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31520"/>
          <a:ext cx="9098280" cy="37216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4526280"/>
                <a:gridCol w="1371600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비트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샘플 설정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ECSR / ECSIPR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0x510 / 0x518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ICD / ICDIP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불법 캐리어 감지 플래그 / 그 인터럽트 허용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— / 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PIR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0x520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MDC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MDC 핀 출력 레벨 (SW가 토글해 클럭 생성)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비트뱅잉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MMD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MDIO 방향: 1 = 쓰기(MDO 구동) / 0 = 읽기(MDIO 해제)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비트뱅잉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MDO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MDIO로 내보낼 데이터 비트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비트뱅잉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MDI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MDIO 핀 입력 레벨 (읽기 전용)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비트뱅잉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MAHR / MALR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0x5C0 / 0x5C8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[31:0] / [15:0]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MA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MAC 주소 [47:16](1~4번째 바이트) / [15:0](5~6번째)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74:90:50:00:00:0x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T1SCTL0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SELB+0x000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[4:0]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PHY_ADD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내장 PHY의 MDIO 주소 (0이면 응답 안 함)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MDIO_SHARE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 = 전용 ETS0_MDC/MDIO 핀 / 1 = ETS0_RX_MDC·ED_MDIO 핀 공유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PMA_CFG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트랜시버 ED 핀: 0 = unfiltered / 1 = filtered 신호로 처리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[15:5] [23:17]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예약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리셋값 그대로 쓰기 (리셋값은 Appendix 확인 필요)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 기록 ?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비트 상세 · 내장 T1S PHY (MDIO) (1/3)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31520"/>
          <a:ext cx="9098280" cy="50749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4526280"/>
                <a:gridCol w="1371600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비트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샘플 설정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CONTROL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0x000000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[15]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RESET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PHY 소프트 리셋, 완료되면 자동 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 → 대기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[14]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LOOP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PCS 루프백 (선로와 분리)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PCS_LB면 1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[12]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LCTL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링크 제어: 1 = 송수신 동작 시작 (표준의 AN enable 자리)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[11] / [10]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LPWR / ISOM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저전력 모드 / 격리 모드 요청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 / 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[9]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LRST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링크 상태 리셋 후 재개 (표준의 AN restart 자리), 자동 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[13][6] / [8]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SPD / DUPL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속도(10M 고정) / 이중 모드(T1S) — 읽기 전용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[7]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CTEST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충돌 테스트: 송신마다 충돌 보고 (정상 운용 0)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STATUS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0x000001 (RO)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S10M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10 Mb/s T1S 동작 가능 표시 (1 고정)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LNOK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링크 준비 완료 (LCTL = 1이고 송수신 가능)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대기 조건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[4] / [1]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RJAB / LJAB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원격 / 로컬 jabber 감지 (Latch-High, 읽으면 클리어)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ANAB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AN 능력 표시 — 호환용일 뿐 T1S에 AN 없음 (1 고정)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대기 조건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LKST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링크 유효 (Latch-Low). PLCA 켜면 PLCA 활동 기준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대기 조건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EXTC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Clause 22 → 45 브리지(Reg13/14) 지원 (1 고정)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대기 조건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[7] / [6]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UNIA / PRSUP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단방향 능력 / 프리앰블 생략 MDIO 불가 표시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비트 상세 · 내장 T1S PHY (MDIO) (2/3)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31520"/>
          <a:ext cx="9098280" cy="50749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4526280"/>
                <a:gridCol w="1371600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비트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샘플 설정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T1STWEAKS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0x3F8001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[15]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PKTLOOP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송신 프레임을 MII RX로 되돌려 보냄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[7]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ENIE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ENI(Enhanced Noise Immunity) 잡음 내성 모드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[6]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UNJT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jabber 후 TX cooldown에서 자동 복구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[3]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RXNRZ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RX 신호 인코딩: 0 = RZ (1은 설정 금지)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SCRD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 = 스크램블러 끔 (디버그용, EMC 악화·표준 위반)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NCOLM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ENI + PLCA 동작 시 0이면 충돌 검출 마스크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 (기본)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RXDLY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PLCA 시 MII RX를 14클럭 지연 (논리 충돌 중 RX 거부하는 MAC 대응)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 (기본)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T1SPLCAEXT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0x3F8002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PREN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PLCA Precedence 모드 (낮은 ID 우선, 표준 PLCA와 비호환)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예약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 고정 (리셋값 유지)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[1] / [0]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LDEN / LDR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리더 역할 강제 사용 / 1 = 리더, 0 = 슬레이브 (LDEN = 1일 때)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 / 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T1SPMACTRL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0x2108F9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[15]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PMARST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PCS·PMA 리셋 (+ 트랜시버 리셋), 자동 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[14]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TXDIS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송신기 끔 (송신 요청 무시)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[11] / [10]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LPWR / MULT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저전력 (CONTROL.LPWR 별칭) / 멀티드롭 (1 고정)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 / 1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LOOP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PMA 루프백 — 외부 OA 트랜시버 사용 시 무시됨 (M4)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PMA_LB면 1 ✖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비트 상세 · 내장 T1S PHY (MDIO) (3/3)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31520"/>
          <a:ext cx="9098280" cy="43982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4526280"/>
                <a:gridCol w="1371600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비트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샘플 설정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PLCACTRL0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0x3FCA01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[15] / [14]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EN / RST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PLCA 켜기 (0 = CSMA/CD) / PLCA RS 리셋 (자동 0)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 / 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PLCACTRL1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0x3FCA02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[15:8]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NCNT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노드 수 (코디네이터에만 의미, 슬레이브는 0 가능)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[7:0]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노드 ID (0 = 코디네이터, 0xFF = PLCA 끔)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 /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PLCATOTMR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0x3FCA04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[7:0]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TOTMR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TO 타이머 (BT 단위, 기본 32 = 3.2 µs, 전 노드 동일)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기본값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PLCABURST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0x3FCA05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[15:8] / [7:0]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MAXBC / BTMR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차례당 추가 프레임 수 / 다음 프레임 대기 시간 (기본 128 BT)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기본값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PLCAST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0x3FCA03 (RO)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[15]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PST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 = 선로에 PLCA 활동(BEACON) 있음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PLCADIAG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0x3FCA06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RXINTO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내 차례에 다른 노드가 송신 (ID 중복 / PLCA 꺼진 노드), 1 쓰기로 클리어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진단용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UNEXPB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코디네이터인데 다른 BEACON 수신 (ID 0 중복)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진단용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BCNBFTO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4 사이클 연속 차례 못 받음 (ID ≥ NCNT 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진단용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T1STXCCTL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0x3F8005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[1:0]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CMD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트랜시버 명령: 00 NORQ / 01 SLEEPRQ / 10 CONFIGRQ / 11 RESETRQ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11 → 00</a:t>
                      </a:r>
                    </a:p>
                  </a:txBody>
                  <a:tcPr marL="54864" marR="54864" marT="27432" marB="27432" anchor="ctr">
                    <a:solidFill>
                      <a:srgbClr val="E8EB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T1STXCST</a:t>
                      </a:r>
                    </a:p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>0x3F8006 (RO)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[2:0]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TXCST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트랜시버 상태: 000 NORMAL / 001 LOWPWR / 010 CONFIG / 011 TRANSMITTING / 100 INIT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761"/>
                          </a:solidFill>
                          <a:latin typeface="Courier New"/>
                          <a:ea typeface="Courier New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[8] / [9]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FAIL / FAILST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트랜시버 이상(ED/RX 고착) 감지 / 그때의 RX 핀 상태 → PMARST로 복구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130643</TotalTime>
  <Words>15</Words>
  <Application>Microsoft Office PowerPoint</Application>
  <PresentationFormat>A4 용지(210x297mm)</PresentationFormat>
  <Paragraphs>5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9" baseType="lpstr">
      <vt:lpstr>HY궁서B</vt:lpstr>
      <vt:lpstr>맑은 고딕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이 희동</cp:lastModifiedBy>
  <cp:revision>2493</cp:revision>
  <cp:lastPrinted>2023-07-29T00:37:11Z</cp:lastPrinted>
  <dcterms:created xsi:type="dcterms:W3CDTF">2018-10-02T09:29:09Z</dcterms:created>
  <dcterms:modified xsi:type="dcterms:W3CDTF">2026-09-16T06:59:37Z</dcterms:modified>
</cp:coreProperties>
</file>